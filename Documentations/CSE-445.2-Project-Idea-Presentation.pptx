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6646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project is not trying to understand medical diagnosis from video. It detects visible movement patterns that may indicate emergency behaviour. Emphasise timestamp and confidence score because these make the demo practical.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the downloaded files shown by the user are skeleton ZIP files, so the team already has the correct modality for this plan. The chosen labels are not guessed: A42 staggering, A43 falling, and A45 touch chest are official NTU action labels.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important explanation is consistency: train on NTU skeleton data; for demo videos, MediaPipe gives landmarks; both are converted into one common 12-joint representation before features are calculated. Mention that LSTM is not the main model because the course asks for machine learning/classical ML; it can be future work.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by saying exactly what the group will submit. The evaluation slide should reassure the teacher that this is measurable, not just a demo. Repeat that recall matters because false negatives are dangerous in fall/emergency detection.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6101D"/>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01D"/>
        </a:solidFill>
        <a:effectLst/>
      </p:bgPr>
    </p:bg>
    <p:spTree>
      <p:nvGrpSpPr>
        <p:cNvPr id="1" name=""/>
        <p:cNvGrpSpPr/>
        <p:nvPr/>
      </p:nvGrpSpPr>
      <p:grpSpPr>
        <a:xfrm>
          <a:off x="0" y="0"/>
          <a:ext cx="0" cy="0"/>
          <a:chOff x="0" y="0"/>
          <a:chExt cx="0" cy="0"/>
        </a:xfrm>
      </p:grpSpPr>
      <p:sp>
        <p:nvSpPr>
          <p:cNvPr id="2" name="Text 0"/>
          <p:cNvSpPr/>
          <p:nvPr/>
        </p:nvSpPr>
        <p:spPr>
          <a:xfrm>
            <a:off x="438912" y="301752"/>
            <a:ext cx="475488" cy="201168"/>
          </a:xfrm>
          <a:prstGeom prst="rect">
            <a:avLst/>
          </a:prstGeom>
          <a:noFill/>
          <a:ln/>
        </p:spPr>
        <p:txBody>
          <a:bodyPr wrap="square" lIns="0" tIns="0" rIns="0" bIns="0" rtlCol="0" anchor="ctr">
            <a:normAutofit/>
          </a:bodyPr>
          <a:lstStyle/>
          <a:p>
            <a:pPr marL="0" indent="0">
              <a:buNone/>
            </a:pPr>
            <a:r>
              <a:rPr lang="en-US" sz="1300" b="1" dirty="0">
                <a:solidFill>
                  <a:srgbClr val="2DEBFF"/>
                </a:solidFill>
                <a:latin typeface="Times New Roman" pitchFamily="34" charset="0"/>
                <a:ea typeface="Times New Roman" pitchFamily="34" charset="-122"/>
                <a:cs typeface="Times New Roman" pitchFamily="34" charset="-120"/>
              </a:rPr>
              <a:t>01</a:t>
            </a:r>
            <a:endParaRPr lang="en-US" sz="1300" dirty="0"/>
          </a:p>
        </p:txBody>
      </p:sp>
      <p:sp>
        <p:nvSpPr>
          <p:cNvPr id="3" name="Shape 1"/>
          <p:cNvSpPr/>
          <p:nvPr/>
        </p:nvSpPr>
        <p:spPr>
          <a:xfrm>
            <a:off x="1033272" y="411480"/>
            <a:ext cx="841248" cy="0"/>
          </a:xfrm>
          <a:prstGeom prst="line">
            <a:avLst/>
          </a:prstGeom>
          <a:noFill/>
          <a:ln w="13335">
            <a:solidFill>
              <a:srgbClr val="2DEBFF">
                <a:alpha val="96000"/>
              </a:srgbClr>
            </a:solidFill>
            <a:prstDash val="solid"/>
          </a:ln>
        </p:spPr>
      </p:sp>
      <p:sp>
        <p:nvSpPr>
          <p:cNvPr id="4" name="Text 2"/>
          <p:cNvSpPr/>
          <p:nvPr/>
        </p:nvSpPr>
        <p:spPr>
          <a:xfrm>
            <a:off x="2011680" y="283464"/>
            <a:ext cx="4389120" cy="219456"/>
          </a:xfrm>
          <a:prstGeom prst="rect">
            <a:avLst/>
          </a:prstGeom>
          <a:noFill/>
          <a:ln/>
        </p:spPr>
        <p:txBody>
          <a:bodyPr wrap="square" lIns="0" tIns="0" rIns="0" bIns="0" rtlCol="0" anchor="ctr">
            <a:normAutofit/>
          </a:bodyPr>
          <a:lstStyle/>
          <a:p>
            <a:pPr marL="0" indent="0">
              <a:buNone/>
            </a:pPr>
            <a:r>
              <a:rPr lang="en-US" sz="1080" b="1" dirty="0">
                <a:solidFill>
                  <a:srgbClr val="B5C7D8"/>
                </a:solidFill>
                <a:latin typeface="Times New Roman" pitchFamily="34" charset="0"/>
                <a:ea typeface="Times New Roman" pitchFamily="34" charset="-122"/>
                <a:cs typeface="Times New Roman" pitchFamily="34" charset="-120"/>
              </a:rPr>
              <a:t>PROJECT IDEA | CSE445.2 | SUMMER 2026</a:t>
            </a:r>
            <a:endParaRPr lang="en-US" sz="1080" dirty="0"/>
          </a:p>
        </p:txBody>
      </p:sp>
      <p:pic>
        <p:nvPicPr>
          <p:cNvPr id="5" name="Image 0" descr="/mnt/data/a_high_tech_surveillance_ai_analytics_scene_in_a_c.png"/>
          <p:cNvPicPr>
            <a:picLocks noChangeAspect="1"/>
          </p:cNvPicPr>
          <p:nvPr/>
        </p:nvPicPr>
        <p:blipFill>
          <a:blip r:embed="rId3"/>
          <a:srcRect t="89" b="89"/>
          <a:stretch/>
        </p:blipFill>
        <p:spPr>
          <a:xfrm>
            <a:off x="7242048" y="932688"/>
            <a:ext cx="4069080" cy="2286000"/>
          </a:xfrm>
          <a:prstGeom prst="rect">
            <a:avLst/>
          </a:prstGeom>
        </p:spPr>
      </p:pic>
      <p:sp>
        <p:nvSpPr>
          <p:cNvPr id="6" name="Shape 3"/>
          <p:cNvSpPr/>
          <p:nvPr/>
        </p:nvSpPr>
        <p:spPr>
          <a:xfrm>
            <a:off x="7242048" y="932688"/>
            <a:ext cx="4069080" cy="2286000"/>
          </a:xfrm>
          <a:prstGeom prst="rect">
            <a:avLst/>
          </a:prstGeom>
          <a:solidFill>
            <a:srgbClr val="06101D">
              <a:alpha val="0"/>
            </a:srgbClr>
          </a:solidFill>
          <a:ln w="11430">
            <a:solidFill>
              <a:srgbClr val="2DEBFF">
                <a:alpha val="70000"/>
              </a:srgbClr>
            </a:solidFill>
            <a:prstDash val="solid"/>
          </a:ln>
        </p:spPr>
      </p:sp>
      <p:sp>
        <p:nvSpPr>
          <p:cNvPr id="7" name="Shape 4"/>
          <p:cNvSpPr/>
          <p:nvPr/>
        </p:nvSpPr>
        <p:spPr>
          <a:xfrm>
            <a:off x="7242048" y="3456432"/>
            <a:ext cx="4069080" cy="1024128"/>
          </a:xfrm>
          <a:prstGeom prst="roundRect">
            <a:avLst>
              <a:gd name="adj" fmla="val 7143"/>
            </a:avLst>
          </a:prstGeom>
          <a:solidFill>
            <a:srgbClr val="0B2036">
              <a:alpha val="97000"/>
            </a:srgbClr>
          </a:solidFill>
          <a:ln w="9525">
            <a:solidFill>
              <a:srgbClr val="1F6E96">
                <a:alpha val="72000"/>
              </a:srgbClr>
            </a:solidFill>
            <a:prstDash val="solid"/>
          </a:ln>
        </p:spPr>
      </p:sp>
      <p:sp>
        <p:nvSpPr>
          <p:cNvPr id="8" name="Text 5"/>
          <p:cNvSpPr/>
          <p:nvPr/>
        </p:nvSpPr>
        <p:spPr>
          <a:xfrm>
            <a:off x="7479792" y="3675888"/>
            <a:ext cx="1371600" cy="155448"/>
          </a:xfrm>
          <a:prstGeom prst="rect">
            <a:avLst/>
          </a:prstGeom>
          <a:noFill/>
          <a:ln/>
        </p:spPr>
        <p:txBody>
          <a:bodyPr wrap="square" lIns="0" tIns="0" rIns="0" bIns="0" rtlCol="0" anchor="ctr">
            <a:normAutofit/>
          </a:bodyPr>
          <a:lstStyle/>
          <a:p>
            <a:pPr marL="0" indent="0">
              <a:buNone/>
            </a:pPr>
            <a:r>
              <a:rPr lang="en-US" sz="810" b="1" dirty="0">
                <a:solidFill>
                  <a:srgbClr val="2DEBFF"/>
                </a:solidFill>
                <a:latin typeface="Times New Roman" pitchFamily="34" charset="0"/>
                <a:ea typeface="Times New Roman" pitchFamily="34" charset="-122"/>
                <a:cs typeface="Times New Roman" pitchFamily="34" charset="-120"/>
              </a:rPr>
              <a:t>VISUAL SCENARIO</a:t>
            </a:r>
            <a:endParaRPr lang="en-US" sz="810" dirty="0"/>
          </a:p>
        </p:txBody>
      </p:sp>
      <p:sp>
        <p:nvSpPr>
          <p:cNvPr id="9" name="Text 6"/>
          <p:cNvSpPr/>
          <p:nvPr/>
        </p:nvSpPr>
        <p:spPr>
          <a:xfrm>
            <a:off x="7479792" y="3931920"/>
            <a:ext cx="3474720" cy="283464"/>
          </a:xfrm>
          <a:prstGeom prst="rect">
            <a:avLst/>
          </a:prstGeom>
          <a:noFill/>
          <a:ln/>
        </p:spPr>
        <p:txBody>
          <a:bodyPr wrap="square" lIns="0" tIns="0" rIns="0" bIns="0" rtlCol="0" anchor="ctr">
            <a:normAutofit/>
          </a:bodyPr>
          <a:lstStyle/>
          <a:p>
            <a:pPr marL="0" indent="0" algn="just">
              <a:buNone/>
            </a:pPr>
            <a:r>
              <a:rPr lang="en-US" sz="890" dirty="0">
                <a:solidFill>
                  <a:srgbClr val="B5C7D8"/>
                </a:solidFill>
                <a:latin typeface="Times New Roman" pitchFamily="34" charset="0"/>
                <a:ea typeface="Times New Roman" pitchFamily="34" charset="-122"/>
                <a:cs typeface="Times New Roman" pitchFamily="34" charset="-120"/>
              </a:rPr>
              <a:t>The demo will show a person moving from normal walking to abnormal movement/fall, with pose landmarks drawn over the frame.</a:t>
            </a:r>
            <a:endParaRPr lang="en-US" sz="890" dirty="0"/>
          </a:p>
        </p:txBody>
      </p:sp>
      <p:sp>
        <p:nvSpPr>
          <p:cNvPr id="10" name="Text 7"/>
          <p:cNvSpPr/>
          <p:nvPr/>
        </p:nvSpPr>
        <p:spPr>
          <a:xfrm>
            <a:off x="566928" y="868680"/>
            <a:ext cx="6492240" cy="987552"/>
          </a:xfrm>
          <a:prstGeom prst="rect">
            <a:avLst/>
          </a:prstGeom>
          <a:noFill/>
          <a:ln/>
        </p:spPr>
        <p:txBody>
          <a:bodyPr wrap="square" lIns="0" tIns="0" rIns="0" bIns="0" rtlCol="0" anchor="ctr">
            <a:normAutofit/>
          </a:bodyPr>
          <a:lstStyle/>
          <a:p>
            <a:pPr marL="0" indent="0">
              <a:buNone/>
            </a:pPr>
            <a:r>
              <a:rPr lang="en-US" sz="3150" b="1" dirty="0">
                <a:solidFill>
                  <a:srgbClr val="FFFFFF"/>
                </a:solidFill>
                <a:latin typeface="Times New Roman" pitchFamily="34" charset="0"/>
                <a:ea typeface="Times New Roman" pitchFamily="34" charset="-122"/>
                <a:cs typeface="Times New Roman" pitchFamily="34" charset="-120"/>
              </a:rPr>
              <a:t>Emergency Behaviour</a:t>
            </a:r>
            <a:endParaRPr lang="en-US" sz="3150" dirty="0"/>
          </a:p>
          <a:p>
            <a:pPr marL="0" indent="0">
              <a:buNone/>
            </a:pPr>
            <a:r>
              <a:rPr lang="en-US" sz="3150" b="1" dirty="0">
                <a:solidFill>
                  <a:srgbClr val="FFFFFF"/>
                </a:solidFill>
                <a:latin typeface="Times New Roman" pitchFamily="34" charset="0"/>
                <a:ea typeface="Times New Roman" pitchFamily="34" charset="-122"/>
                <a:cs typeface="Times New Roman" pitchFamily="34" charset="-120"/>
              </a:rPr>
              <a:t>Classification from Video</a:t>
            </a:r>
            <a:endParaRPr lang="en-US" sz="3150" dirty="0"/>
          </a:p>
        </p:txBody>
      </p:sp>
      <p:sp>
        <p:nvSpPr>
          <p:cNvPr id="11" name="Text 8"/>
          <p:cNvSpPr/>
          <p:nvPr/>
        </p:nvSpPr>
        <p:spPr>
          <a:xfrm>
            <a:off x="594360" y="1938528"/>
            <a:ext cx="2926080" cy="201168"/>
          </a:xfrm>
          <a:prstGeom prst="rect">
            <a:avLst/>
          </a:prstGeom>
          <a:noFill/>
          <a:ln/>
        </p:spPr>
        <p:txBody>
          <a:bodyPr wrap="square" lIns="0" tIns="0" rIns="0" bIns="0" rtlCol="0" anchor="ctr"/>
          <a:lstStyle/>
          <a:p>
            <a:pPr marL="0" indent="0">
              <a:buNone/>
            </a:pPr>
            <a:r>
              <a:rPr lang="en-US" sz="1540" b="1" i="1" dirty="0">
                <a:solidFill>
                  <a:srgbClr val="F3C45B"/>
                </a:solidFill>
                <a:latin typeface="Times New Roman" pitchFamily="34" charset="0"/>
                <a:ea typeface="Times New Roman" pitchFamily="34" charset="-122"/>
                <a:cs typeface="Times New Roman" pitchFamily="34" charset="-120"/>
              </a:rPr>
              <a:t>Using Machine Learning</a:t>
            </a:r>
            <a:endParaRPr lang="en-US" sz="1540" dirty="0"/>
          </a:p>
        </p:txBody>
      </p:sp>
      <p:sp>
        <p:nvSpPr>
          <p:cNvPr id="12" name="Shape 9"/>
          <p:cNvSpPr/>
          <p:nvPr/>
        </p:nvSpPr>
        <p:spPr>
          <a:xfrm>
            <a:off x="594360" y="2231136"/>
            <a:ext cx="1600200" cy="0"/>
          </a:xfrm>
          <a:prstGeom prst="line">
            <a:avLst/>
          </a:prstGeom>
          <a:noFill/>
          <a:ln w="25400">
            <a:solidFill>
              <a:srgbClr val="F3C45B"/>
            </a:solidFill>
            <a:prstDash val="solid"/>
          </a:ln>
        </p:spPr>
      </p:sp>
      <p:sp>
        <p:nvSpPr>
          <p:cNvPr id="13" name="Shape 10"/>
          <p:cNvSpPr/>
          <p:nvPr/>
        </p:nvSpPr>
        <p:spPr>
          <a:xfrm>
            <a:off x="594360" y="2514600"/>
            <a:ext cx="6355080" cy="969264"/>
          </a:xfrm>
          <a:prstGeom prst="roundRect">
            <a:avLst>
              <a:gd name="adj" fmla="val 7547"/>
            </a:avLst>
          </a:prstGeom>
          <a:solidFill>
            <a:srgbClr val="0B2036">
              <a:alpha val="97000"/>
            </a:srgbClr>
          </a:solidFill>
          <a:ln w="9525">
            <a:solidFill>
              <a:srgbClr val="1F6E96">
                <a:alpha val="72000"/>
              </a:srgbClr>
            </a:solidFill>
            <a:prstDash val="solid"/>
          </a:ln>
        </p:spPr>
      </p:sp>
      <p:sp>
        <p:nvSpPr>
          <p:cNvPr id="14" name="Text 11"/>
          <p:cNvSpPr/>
          <p:nvPr/>
        </p:nvSpPr>
        <p:spPr>
          <a:xfrm>
            <a:off x="804672" y="2734056"/>
            <a:ext cx="1828800" cy="155448"/>
          </a:xfrm>
          <a:prstGeom prst="rect">
            <a:avLst/>
          </a:prstGeom>
          <a:noFill/>
          <a:ln/>
        </p:spPr>
        <p:txBody>
          <a:bodyPr wrap="square" lIns="0" tIns="0" rIns="0" bIns="0" rtlCol="0" anchor="ctr">
            <a:normAutofit/>
          </a:bodyPr>
          <a:lstStyle/>
          <a:p>
            <a:pPr marL="0" indent="0">
              <a:buNone/>
            </a:pPr>
            <a:r>
              <a:rPr lang="en-US" sz="810" b="1" dirty="0">
                <a:solidFill>
                  <a:srgbClr val="2DEBFF"/>
                </a:solidFill>
                <a:latin typeface="Times New Roman" pitchFamily="34" charset="0"/>
                <a:ea typeface="Times New Roman" pitchFamily="34" charset="-122"/>
                <a:cs typeface="Times New Roman" pitchFamily="34" charset="-120"/>
              </a:rPr>
              <a:t>PROBLEM TO SOLVE</a:t>
            </a:r>
            <a:endParaRPr lang="en-US" sz="810" dirty="0"/>
          </a:p>
        </p:txBody>
      </p:sp>
      <p:sp>
        <p:nvSpPr>
          <p:cNvPr id="15" name="Text 12"/>
          <p:cNvSpPr/>
          <p:nvPr/>
        </p:nvSpPr>
        <p:spPr>
          <a:xfrm>
            <a:off x="804672" y="2980944"/>
            <a:ext cx="5806440" cy="310896"/>
          </a:xfrm>
          <a:prstGeom prst="rect">
            <a:avLst/>
          </a:prstGeom>
          <a:noFill/>
          <a:ln/>
        </p:spPr>
        <p:txBody>
          <a:bodyPr wrap="square" lIns="0" tIns="0" rIns="0" bIns="0" rtlCol="0" anchor="ctr">
            <a:normAutofit lnSpcReduction="10000"/>
          </a:bodyPr>
          <a:lstStyle/>
          <a:p>
            <a:pPr marL="0" indent="0">
              <a:buNone/>
            </a:pPr>
            <a:r>
              <a:rPr lang="en-US" sz="1080" dirty="0">
                <a:solidFill>
                  <a:srgbClr val="FFFFFF"/>
                </a:solidFill>
                <a:latin typeface="Times New Roman" pitchFamily="34" charset="0"/>
                <a:ea typeface="Times New Roman" pitchFamily="34" charset="-122"/>
                <a:cs typeface="Times New Roman" pitchFamily="34" charset="-120"/>
              </a:rPr>
              <a:t>CCTV or recorded video is often reviewed manually after an incident. Our system will automatically classify emergency-related human movement and mark the time where it happens.</a:t>
            </a:r>
            <a:endParaRPr lang="en-US" sz="1080" dirty="0"/>
          </a:p>
        </p:txBody>
      </p:sp>
      <p:sp>
        <p:nvSpPr>
          <p:cNvPr id="16" name="Shape 13"/>
          <p:cNvSpPr/>
          <p:nvPr/>
        </p:nvSpPr>
        <p:spPr>
          <a:xfrm>
            <a:off x="594360" y="3730752"/>
            <a:ext cx="6355080" cy="1042416"/>
          </a:xfrm>
          <a:prstGeom prst="roundRect">
            <a:avLst>
              <a:gd name="adj" fmla="val 7018"/>
            </a:avLst>
          </a:prstGeom>
          <a:solidFill>
            <a:srgbClr val="0B2036">
              <a:alpha val="97000"/>
            </a:srgbClr>
          </a:solidFill>
          <a:ln w="9525">
            <a:solidFill>
              <a:srgbClr val="1F6E96">
                <a:alpha val="72000"/>
              </a:srgbClr>
            </a:solidFill>
            <a:prstDash val="solid"/>
          </a:ln>
        </p:spPr>
      </p:sp>
      <p:sp>
        <p:nvSpPr>
          <p:cNvPr id="17" name="Text 14"/>
          <p:cNvSpPr/>
          <p:nvPr/>
        </p:nvSpPr>
        <p:spPr>
          <a:xfrm>
            <a:off x="804672" y="3941064"/>
            <a:ext cx="1828800" cy="155448"/>
          </a:xfrm>
          <a:prstGeom prst="rect">
            <a:avLst/>
          </a:prstGeom>
          <a:noFill/>
          <a:ln/>
        </p:spPr>
        <p:txBody>
          <a:bodyPr wrap="square" lIns="0" tIns="0" rIns="0" bIns="0" rtlCol="0" anchor="ctr">
            <a:normAutofit/>
          </a:bodyPr>
          <a:lstStyle/>
          <a:p>
            <a:pPr marL="0" indent="0">
              <a:buNone/>
            </a:pPr>
            <a:r>
              <a:rPr lang="en-US" sz="810" b="1" dirty="0">
                <a:solidFill>
                  <a:srgbClr val="F3C45B"/>
                </a:solidFill>
                <a:latin typeface="Times New Roman" pitchFamily="34" charset="0"/>
                <a:ea typeface="Times New Roman" pitchFamily="34" charset="-122"/>
                <a:cs typeface="Times New Roman" pitchFamily="34" charset="-120"/>
              </a:rPr>
              <a:t>PROJECT OUTPUT</a:t>
            </a:r>
            <a:endParaRPr lang="en-US" sz="810" dirty="0"/>
          </a:p>
        </p:txBody>
      </p:sp>
      <p:sp>
        <p:nvSpPr>
          <p:cNvPr id="18" name="Text 15"/>
          <p:cNvSpPr/>
          <p:nvPr/>
        </p:nvSpPr>
        <p:spPr>
          <a:xfrm>
            <a:off x="804672" y="4187952"/>
            <a:ext cx="5760720" cy="365760"/>
          </a:xfrm>
          <a:prstGeom prst="rect">
            <a:avLst/>
          </a:prstGeom>
          <a:noFill/>
          <a:ln/>
        </p:spPr>
        <p:txBody>
          <a:bodyPr wrap="square" lIns="0" tIns="0" rIns="0" bIns="0" rtlCol="0" anchor="ctr">
            <a:normAutofit/>
          </a:bodyPr>
          <a:lstStyle/>
          <a:p>
            <a:pPr marL="0" indent="0">
              <a:buNone/>
            </a:pPr>
            <a:r>
              <a:rPr lang="en-US" sz="1120" b="1" dirty="0">
                <a:solidFill>
                  <a:srgbClr val="FFFFFF"/>
                </a:solidFill>
                <a:latin typeface="Times New Roman" pitchFamily="34" charset="0"/>
                <a:ea typeface="Times New Roman" pitchFamily="34" charset="-122"/>
                <a:cs typeface="Times New Roman" pitchFamily="34" charset="-120"/>
              </a:rPr>
              <a:t>Input: video clip / live camera frame stream</a:t>
            </a:r>
            <a:endParaRPr lang="en-US" sz="1120" dirty="0"/>
          </a:p>
          <a:p>
            <a:pPr marL="0" indent="0">
              <a:buNone/>
            </a:pPr>
            <a:r>
              <a:rPr lang="en-US" sz="1120" b="1" dirty="0">
                <a:solidFill>
                  <a:srgbClr val="FFFFFF"/>
                </a:solidFill>
                <a:latin typeface="Times New Roman" pitchFamily="34" charset="0"/>
                <a:ea typeface="Times New Roman" pitchFamily="34" charset="-122"/>
                <a:cs typeface="Times New Roman" pitchFamily="34" charset="-120"/>
              </a:rPr>
              <a:t>Output: behaviour label + confidence score + timestamp</a:t>
            </a:r>
            <a:endParaRPr lang="en-US" sz="1120" dirty="0"/>
          </a:p>
        </p:txBody>
      </p:sp>
      <p:sp>
        <p:nvSpPr>
          <p:cNvPr id="19" name="Shape 16"/>
          <p:cNvSpPr/>
          <p:nvPr/>
        </p:nvSpPr>
        <p:spPr>
          <a:xfrm>
            <a:off x="594360" y="5074920"/>
            <a:ext cx="6492240" cy="594360"/>
          </a:xfrm>
          <a:prstGeom prst="roundRect">
            <a:avLst>
              <a:gd name="adj" fmla="val 12308"/>
            </a:avLst>
          </a:prstGeom>
          <a:solidFill>
            <a:srgbClr val="0A1B2D">
              <a:alpha val="97000"/>
            </a:srgbClr>
          </a:solidFill>
          <a:ln w="9525">
            <a:solidFill>
              <a:srgbClr val="2DEBFF">
                <a:alpha val="55000"/>
              </a:srgbClr>
            </a:solidFill>
            <a:prstDash val="solid"/>
          </a:ln>
        </p:spPr>
      </p:sp>
      <p:sp>
        <p:nvSpPr>
          <p:cNvPr id="20" name="Text 17"/>
          <p:cNvSpPr/>
          <p:nvPr/>
        </p:nvSpPr>
        <p:spPr>
          <a:xfrm>
            <a:off x="786384" y="5266944"/>
            <a:ext cx="6035040" cy="283464"/>
          </a:xfrm>
          <a:prstGeom prst="rect">
            <a:avLst/>
          </a:prstGeom>
          <a:noFill/>
          <a:ln/>
        </p:spPr>
        <p:txBody>
          <a:bodyPr wrap="square" lIns="0" tIns="0" rIns="0" bIns="0" rtlCol="0" anchor="ctr">
            <a:normAutofit lnSpcReduction="10000"/>
          </a:bodyPr>
          <a:lstStyle/>
          <a:p>
            <a:pPr marL="0" indent="0">
              <a:buNone/>
            </a:pPr>
            <a:r>
              <a:rPr lang="en-US" sz="980" b="1" dirty="0">
                <a:solidFill>
                  <a:srgbClr val="FFFFFF"/>
                </a:solidFill>
                <a:latin typeface="Times New Roman" pitchFamily="34" charset="0"/>
                <a:ea typeface="Times New Roman" pitchFamily="34" charset="-122"/>
                <a:cs typeface="Times New Roman" pitchFamily="34" charset="-120"/>
              </a:rPr>
              <a:t>Target classes: Normal Activity  •  Staggering / Unbalanced Movement  •  Touch Chest / Chest Pain Gesture  •  Falling  •  Motionless After Fall</a:t>
            </a:r>
            <a:endParaRPr lang="en-US" sz="980" dirty="0"/>
          </a:p>
        </p:txBody>
      </p:sp>
      <p:sp>
        <p:nvSpPr>
          <p:cNvPr id="21" name="Text 18"/>
          <p:cNvSpPr/>
          <p:nvPr/>
        </p:nvSpPr>
        <p:spPr>
          <a:xfrm>
            <a:off x="612648" y="5934456"/>
            <a:ext cx="10789920" cy="146304"/>
          </a:xfrm>
          <a:prstGeom prst="rect">
            <a:avLst/>
          </a:prstGeom>
          <a:noFill/>
          <a:ln/>
        </p:spPr>
        <p:txBody>
          <a:bodyPr wrap="square" lIns="0" tIns="0" rIns="0" bIns="0" rtlCol="0" anchor="ctr">
            <a:normAutofit fontScale="92500" lnSpcReduction="10000"/>
          </a:bodyPr>
          <a:lstStyle/>
          <a:p>
            <a:pPr marL="0" indent="0">
              <a:buNone/>
            </a:pPr>
            <a:r>
              <a:rPr lang="en-US" sz="1100" dirty="0">
                <a:solidFill>
                  <a:schemeClr val="bg1"/>
                </a:solidFill>
                <a:latin typeface="Times New Roman" pitchFamily="34" charset="0"/>
                <a:ea typeface="Times New Roman" pitchFamily="34" charset="-122"/>
                <a:cs typeface="Times New Roman" pitchFamily="34" charset="-120"/>
              </a:rPr>
              <a:t>Team: Tarif Bin Mehedi — 2221265042   |   Sabiha Binte Siraj — 2222633042   |   Antara Labiba — 2233585042</a:t>
            </a:r>
            <a:endParaRPr lang="en-US" sz="1100" dirty="0">
              <a:solidFill>
                <a:schemeClr val="bg1"/>
              </a:solidFill>
            </a:endParaRPr>
          </a:p>
        </p:txBody>
      </p:sp>
      <p:sp>
        <p:nvSpPr>
          <p:cNvPr id="22" name="Shape 19"/>
          <p:cNvSpPr/>
          <p:nvPr/>
        </p:nvSpPr>
        <p:spPr>
          <a:xfrm>
            <a:off x="438912" y="6455664"/>
            <a:ext cx="11292840" cy="0"/>
          </a:xfrm>
          <a:prstGeom prst="line">
            <a:avLst/>
          </a:prstGeom>
          <a:noFill/>
          <a:ln w="6985">
            <a:solidFill>
              <a:srgbClr val="1E5276">
                <a:alpha val="78000"/>
              </a:srgbClr>
            </a:solidFill>
            <a:prstDash val="solid"/>
          </a:ln>
        </p:spPr>
      </p:sp>
      <p:sp>
        <p:nvSpPr>
          <p:cNvPr id="23" name="Text 20"/>
          <p:cNvSpPr/>
          <p:nvPr/>
        </p:nvSpPr>
        <p:spPr>
          <a:xfrm>
            <a:off x="475488" y="6556248"/>
            <a:ext cx="7040880" cy="118872"/>
          </a:xfrm>
          <a:prstGeom prst="rect">
            <a:avLst/>
          </a:prstGeom>
          <a:noFill/>
          <a:ln/>
        </p:spPr>
        <p:txBody>
          <a:bodyPr wrap="square" lIns="0" tIns="0" rIns="0" bIns="0" rtlCol="0" anchor="ctr">
            <a:normAutofit/>
          </a:bodyPr>
          <a:lstStyle/>
          <a:p>
            <a:pPr marL="0" indent="0">
              <a:buNone/>
            </a:pPr>
            <a:r>
              <a:rPr lang="en-US" sz="690" dirty="0">
                <a:solidFill>
                  <a:srgbClr val="7893A9"/>
                </a:solidFill>
                <a:latin typeface="Times New Roman" pitchFamily="34" charset="0"/>
                <a:ea typeface="Times New Roman" pitchFamily="34" charset="-122"/>
                <a:cs typeface="Times New Roman" pitchFamily="34" charset="-120"/>
              </a:rPr>
              <a:t>Project idea based on team proposal notes: abnormal / emergency behaviour classification from video using pose landmarks.</a:t>
            </a:r>
            <a:endParaRPr lang="en-US" sz="690" dirty="0"/>
          </a:p>
        </p:txBody>
      </p:sp>
      <p:sp>
        <p:nvSpPr>
          <p:cNvPr id="24" name="Text 21"/>
          <p:cNvSpPr/>
          <p:nvPr/>
        </p:nvSpPr>
        <p:spPr>
          <a:xfrm>
            <a:off x="8458200" y="6556248"/>
            <a:ext cx="3063240" cy="118872"/>
          </a:xfrm>
          <a:prstGeom prst="rect">
            <a:avLst/>
          </a:prstGeom>
          <a:noFill/>
          <a:ln/>
        </p:spPr>
        <p:txBody>
          <a:bodyPr wrap="square" lIns="0" tIns="0" rIns="0" bIns="0" rtlCol="0" anchor="ctr">
            <a:normAutofit/>
          </a:bodyPr>
          <a:lstStyle/>
          <a:p>
            <a:pPr marL="0" indent="0" algn="r">
              <a:buNone/>
            </a:pPr>
            <a:r>
              <a:rPr lang="en-US" sz="690" dirty="0">
                <a:solidFill>
                  <a:srgbClr val="7893A9"/>
                </a:solidFill>
                <a:latin typeface="Times New Roman" pitchFamily="34" charset="0"/>
                <a:ea typeface="Times New Roman" pitchFamily="34" charset="-122"/>
                <a:cs typeface="Times New Roman" pitchFamily="34" charset="-120"/>
              </a:rPr>
              <a:t>Emergency Behaviour Classification from Video using ML</a:t>
            </a:r>
            <a:endParaRPr lang="en-US" sz="69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101D"/>
        </a:solidFill>
        <a:effectLst/>
      </p:bgPr>
    </p:bg>
    <p:spTree>
      <p:nvGrpSpPr>
        <p:cNvPr id="1" name=""/>
        <p:cNvGrpSpPr/>
        <p:nvPr/>
      </p:nvGrpSpPr>
      <p:grpSpPr>
        <a:xfrm>
          <a:off x="0" y="0"/>
          <a:ext cx="0" cy="0"/>
          <a:chOff x="0" y="0"/>
          <a:chExt cx="0" cy="0"/>
        </a:xfrm>
      </p:grpSpPr>
      <p:sp>
        <p:nvSpPr>
          <p:cNvPr id="2" name="Text 0"/>
          <p:cNvSpPr/>
          <p:nvPr/>
        </p:nvSpPr>
        <p:spPr>
          <a:xfrm>
            <a:off x="438912" y="301752"/>
            <a:ext cx="475488" cy="201168"/>
          </a:xfrm>
          <a:prstGeom prst="rect">
            <a:avLst/>
          </a:prstGeom>
          <a:noFill/>
          <a:ln/>
        </p:spPr>
        <p:txBody>
          <a:bodyPr wrap="square" lIns="0" tIns="0" rIns="0" bIns="0" rtlCol="0" anchor="ctr">
            <a:normAutofit/>
          </a:bodyPr>
          <a:lstStyle/>
          <a:p>
            <a:pPr marL="0" indent="0">
              <a:buNone/>
            </a:pPr>
            <a:r>
              <a:rPr lang="en-US" sz="1300" b="1" dirty="0">
                <a:solidFill>
                  <a:srgbClr val="2DEBFF"/>
                </a:solidFill>
                <a:latin typeface="Times New Roman" pitchFamily="34" charset="0"/>
                <a:ea typeface="Times New Roman" pitchFamily="34" charset="-122"/>
                <a:cs typeface="Times New Roman" pitchFamily="34" charset="-120"/>
              </a:rPr>
              <a:t>02</a:t>
            </a:r>
            <a:endParaRPr lang="en-US" sz="1300" dirty="0"/>
          </a:p>
        </p:txBody>
      </p:sp>
      <p:sp>
        <p:nvSpPr>
          <p:cNvPr id="3" name="Shape 1"/>
          <p:cNvSpPr/>
          <p:nvPr/>
        </p:nvSpPr>
        <p:spPr>
          <a:xfrm>
            <a:off x="1033272" y="411480"/>
            <a:ext cx="841248" cy="0"/>
          </a:xfrm>
          <a:prstGeom prst="line">
            <a:avLst/>
          </a:prstGeom>
          <a:noFill/>
          <a:ln w="13335">
            <a:solidFill>
              <a:srgbClr val="2DEBFF">
                <a:alpha val="96000"/>
              </a:srgbClr>
            </a:solidFill>
            <a:prstDash val="solid"/>
          </a:ln>
        </p:spPr>
      </p:sp>
      <p:sp>
        <p:nvSpPr>
          <p:cNvPr id="4" name="Text 2"/>
          <p:cNvSpPr/>
          <p:nvPr/>
        </p:nvSpPr>
        <p:spPr>
          <a:xfrm>
            <a:off x="2011680" y="283464"/>
            <a:ext cx="4389120" cy="219456"/>
          </a:xfrm>
          <a:prstGeom prst="rect">
            <a:avLst/>
          </a:prstGeom>
          <a:noFill/>
          <a:ln/>
        </p:spPr>
        <p:txBody>
          <a:bodyPr wrap="square" lIns="0" tIns="0" rIns="0" bIns="0" rtlCol="0" anchor="ctr">
            <a:normAutofit/>
          </a:bodyPr>
          <a:lstStyle/>
          <a:p>
            <a:pPr marL="0" indent="0">
              <a:buNone/>
            </a:pPr>
            <a:r>
              <a:rPr lang="en-US" sz="1080" b="1" dirty="0">
                <a:solidFill>
                  <a:srgbClr val="B5C7D8"/>
                </a:solidFill>
                <a:latin typeface="Times New Roman" pitchFamily="34" charset="0"/>
                <a:ea typeface="Times New Roman" pitchFamily="34" charset="-122"/>
                <a:cs typeface="Times New Roman" pitchFamily="34" charset="-120"/>
              </a:rPr>
              <a:t>DATASET AND PREPARATION</a:t>
            </a:r>
            <a:endParaRPr lang="en-US" sz="1080" dirty="0"/>
          </a:p>
        </p:txBody>
      </p:sp>
      <p:sp>
        <p:nvSpPr>
          <p:cNvPr id="5" name="Text 3"/>
          <p:cNvSpPr/>
          <p:nvPr/>
        </p:nvSpPr>
        <p:spPr>
          <a:xfrm>
            <a:off x="566928" y="731520"/>
            <a:ext cx="6583680" cy="566928"/>
          </a:xfrm>
          <a:prstGeom prst="rect">
            <a:avLst/>
          </a:prstGeom>
          <a:noFill/>
          <a:ln/>
        </p:spPr>
        <p:txBody>
          <a:bodyPr wrap="square" lIns="0" tIns="0" rIns="0" bIns="0" rtlCol="0" anchor="ctr">
            <a:normAutofit fontScale="92500"/>
          </a:bodyPr>
          <a:lstStyle/>
          <a:p>
            <a:pPr marL="0" indent="0">
              <a:buNone/>
            </a:pPr>
            <a:r>
              <a:rPr lang="en-US" sz="2850" b="1" dirty="0">
                <a:solidFill>
                  <a:srgbClr val="FFFFFF"/>
                </a:solidFill>
                <a:latin typeface="Times New Roman" pitchFamily="34" charset="0"/>
                <a:ea typeface="Times New Roman" pitchFamily="34" charset="-122"/>
                <a:cs typeface="Times New Roman" pitchFamily="34" charset="-120"/>
              </a:rPr>
              <a:t>Dataset Strategy: NTU RGB+D Skeleton Data</a:t>
            </a:r>
            <a:endParaRPr lang="en-US" sz="2850" dirty="0"/>
          </a:p>
        </p:txBody>
      </p:sp>
      <p:sp>
        <p:nvSpPr>
          <p:cNvPr id="6" name="Text 4"/>
          <p:cNvSpPr/>
          <p:nvPr/>
        </p:nvSpPr>
        <p:spPr>
          <a:xfrm>
            <a:off x="566928" y="1444753"/>
            <a:ext cx="6492240" cy="292608"/>
          </a:xfrm>
          <a:prstGeom prst="rect">
            <a:avLst/>
          </a:prstGeom>
          <a:noFill/>
          <a:ln/>
        </p:spPr>
        <p:txBody>
          <a:bodyPr wrap="square" lIns="0" tIns="0" rIns="0" bIns="0" rtlCol="0" anchor="ctr">
            <a:noAutofit/>
          </a:bodyPr>
          <a:lstStyle/>
          <a:p>
            <a:pPr marL="0" indent="0">
              <a:buNone/>
            </a:pPr>
            <a:r>
              <a:rPr lang="en-US" dirty="0">
                <a:solidFill>
                  <a:srgbClr val="B5C7D8"/>
                </a:solidFill>
                <a:latin typeface="Times New Roman" pitchFamily="34" charset="0"/>
                <a:ea typeface="Times New Roman" pitchFamily="34" charset="-122"/>
                <a:cs typeface="Times New Roman" pitchFamily="34" charset="-120"/>
              </a:rPr>
              <a:t>We will train on labelled skeleton action sequences, then use MediaPipe to extract comparable skeleton-like landmarks from demo videos.</a:t>
            </a:r>
            <a:endParaRPr lang="en-US" dirty="0"/>
          </a:p>
        </p:txBody>
      </p:sp>
      <p:sp>
        <p:nvSpPr>
          <p:cNvPr id="7" name="Shape 5"/>
          <p:cNvSpPr/>
          <p:nvPr/>
        </p:nvSpPr>
        <p:spPr>
          <a:xfrm>
            <a:off x="658368" y="2312780"/>
            <a:ext cx="1572768" cy="566928"/>
          </a:xfrm>
          <a:prstGeom prst="roundRect">
            <a:avLst>
              <a:gd name="adj" fmla="val 9677"/>
            </a:avLst>
          </a:prstGeom>
          <a:solidFill>
            <a:srgbClr val="0B2036"/>
          </a:solidFill>
          <a:ln w="12700">
            <a:solidFill>
              <a:srgbClr val="2DEBFF">
                <a:alpha val="93000"/>
              </a:srgbClr>
            </a:solidFill>
            <a:prstDash val="solid"/>
          </a:ln>
        </p:spPr>
      </p:sp>
      <p:sp>
        <p:nvSpPr>
          <p:cNvPr id="8" name="Text 6"/>
          <p:cNvSpPr/>
          <p:nvPr/>
        </p:nvSpPr>
        <p:spPr>
          <a:xfrm>
            <a:off x="731520" y="2385932"/>
            <a:ext cx="1426464" cy="201168"/>
          </a:xfrm>
          <a:prstGeom prst="rect">
            <a:avLst/>
          </a:prstGeom>
          <a:noFill/>
          <a:ln/>
        </p:spPr>
        <p:txBody>
          <a:bodyPr wrap="square" lIns="0" tIns="0" rIns="0" bIns="0" rtlCol="0" anchor="ctr">
            <a:noAutofit/>
          </a:bodyPr>
          <a:lstStyle/>
          <a:p>
            <a:pPr marL="0" indent="0" algn="ctr">
              <a:buNone/>
            </a:pPr>
            <a:r>
              <a:rPr lang="en-US" sz="2000" b="1" dirty="0">
                <a:solidFill>
                  <a:srgbClr val="2DEBFF"/>
                </a:solidFill>
                <a:latin typeface="Times New Roman" pitchFamily="34" charset="0"/>
                <a:ea typeface="Times New Roman" pitchFamily="34" charset="-122"/>
                <a:cs typeface="Times New Roman" pitchFamily="34" charset="-120"/>
              </a:rPr>
              <a:t>56,880</a:t>
            </a:r>
            <a:endParaRPr lang="en-US" sz="2000" dirty="0"/>
          </a:p>
        </p:txBody>
      </p:sp>
      <p:sp>
        <p:nvSpPr>
          <p:cNvPr id="9" name="Text 7"/>
          <p:cNvSpPr/>
          <p:nvPr/>
        </p:nvSpPr>
        <p:spPr>
          <a:xfrm>
            <a:off x="731520" y="2669396"/>
            <a:ext cx="1426464" cy="109728"/>
          </a:xfrm>
          <a:prstGeom prst="rect">
            <a:avLst/>
          </a:prstGeom>
          <a:noFill/>
          <a:ln/>
        </p:spPr>
        <p:txBody>
          <a:bodyPr wrap="square" lIns="0" tIns="0" rIns="0" bIns="0" rtlCol="0" anchor="ctr">
            <a:noAutofit/>
          </a:bodyPr>
          <a:lstStyle/>
          <a:p>
            <a:pPr marL="0" indent="0" algn="ctr">
              <a:buNone/>
            </a:pPr>
            <a:r>
              <a:rPr lang="en-US" sz="1050" b="1" dirty="0">
                <a:solidFill>
                  <a:srgbClr val="B5C7D8"/>
                </a:solidFill>
                <a:latin typeface="Times New Roman" pitchFamily="34" charset="0"/>
                <a:ea typeface="Times New Roman" pitchFamily="34" charset="-122"/>
                <a:cs typeface="Times New Roman" pitchFamily="34" charset="-120"/>
              </a:rPr>
              <a:t>NTU RGB+D samples</a:t>
            </a:r>
            <a:endParaRPr lang="en-US" sz="1050" dirty="0"/>
          </a:p>
        </p:txBody>
      </p:sp>
      <p:sp>
        <p:nvSpPr>
          <p:cNvPr id="10" name="Shape 8"/>
          <p:cNvSpPr/>
          <p:nvPr/>
        </p:nvSpPr>
        <p:spPr>
          <a:xfrm>
            <a:off x="2395728" y="2312780"/>
            <a:ext cx="1572768" cy="566928"/>
          </a:xfrm>
          <a:prstGeom prst="roundRect">
            <a:avLst>
              <a:gd name="adj" fmla="val 9677"/>
            </a:avLst>
          </a:prstGeom>
          <a:solidFill>
            <a:srgbClr val="0B2036"/>
          </a:solidFill>
          <a:ln w="12700">
            <a:solidFill>
              <a:srgbClr val="F3C45B">
                <a:alpha val="93000"/>
              </a:srgbClr>
            </a:solidFill>
            <a:prstDash val="solid"/>
          </a:ln>
        </p:spPr>
      </p:sp>
      <p:sp>
        <p:nvSpPr>
          <p:cNvPr id="11" name="Text 9"/>
          <p:cNvSpPr/>
          <p:nvPr/>
        </p:nvSpPr>
        <p:spPr>
          <a:xfrm>
            <a:off x="2468880" y="2385932"/>
            <a:ext cx="1426464" cy="201168"/>
          </a:xfrm>
          <a:prstGeom prst="rect">
            <a:avLst/>
          </a:prstGeom>
          <a:noFill/>
          <a:ln/>
        </p:spPr>
        <p:txBody>
          <a:bodyPr wrap="square" lIns="0" tIns="0" rIns="0" bIns="0" rtlCol="0" anchor="ctr">
            <a:noAutofit/>
          </a:bodyPr>
          <a:lstStyle/>
          <a:p>
            <a:pPr marL="0" indent="0" algn="ctr">
              <a:buNone/>
            </a:pPr>
            <a:r>
              <a:rPr lang="en-US" sz="2000" b="1" dirty="0">
                <a:solidFill>
                  <a:srgbClr val="F3C45B"/>
                </a:solidFill>
                <a:latin typeface="Times New Roman" pitchFamily="34" charset="0"/>
                <a:ea typeface="Times New Roman" pitchFamily="34" charset="-122"/>
                <a:cs typeface="Times New Roman" pitchFamily="34" charset="-120"/>
              </a:rPr>
              <a:t>60</a:t>
            </a:r>
            <a:endParaRPr lang="en-US" sz="2000" dirty="0"/>
          </a:p>
        </p:txBody>
      </p:sp>
      <p:sp>
        <p:nvSpPr>
          <p:cNvPr id="12" name="Text 10"/>
          <p:cNvSpPr/>
          <p:nvPr/>
        </p:nvSpPr>
        <p:spPr>
          <a:xfrm>
            <a:off x="2468880" y="2669396"/>
            <a:ext cx="1426464" cy="109728"/>
          </a:xfrm>
          <a:prstGeom prst="rect">
            <a:avLst/>
          </a:prstGeom>
          <a:noFill/>
          <a:ln/>
        </p:spPr>
        <p:txBody>
          <a:bodyPr wrap="square" lIns="0" tIns="0" rIns="0" bIns="0" rtlCol="0" anchor="ctr">
            <a:noAutofit/>
          </a:bodyPr>
          <a:lstStyle/>
          <a:p>
            <a:pPr marL="0" indent="0" algn="ctr">
              <a:buNone/>
            </a:pPr>
            <a:r>
              <a:rPr lang="en-US" sz="1050" b="1" dirty="0">
                <a:solidFill>
                  <a:srgbClr val="B5C7D8"/>
                </a:solidFill>
                <a:latin typeface="Times New Roman" pitchFamily="34" charset="0"/>
                <a:ea typeface="Times New Roman" pitchFamily="34" charset="-122"/>
                <a:cs typeface="Times New Roman" pitchFamily="34" charset="-120"/>
              </a:rPr>
              <a:t>original action classes</a:t>
            </a:r>
            <a:endParaRPr lang="en-US" sz="1050" dirty="0"/>
          </a:p>
        </p:txBody>
      </p:sp>
      <p:sp>
        <p:nvSpPr>
          <p:cNvPr id="13" name="Shape 11"/>
          <p:cNvSpPr/>
          <p:nvPr/>
        </p:nvSpPr>
        <p:spPr>
          <a:xfrm>
            <a:off x="4133088" y="2312780"/>
            <a:ext cx="1572768" cy="566928"/>
          </a:xfrm>
          <a:prstGeom prst="roundRect">
            <a:avLst>
              <a:gd name="adj" fmla="val 9677"/>
            </a:avLst>
          </a:prstGeom>
          <a:solidFill>
            <a:srgbClr val="0B2036"/>
          </a:solidFill>
          <a:ln w="12700">
            <a:solidFill>
              <a:srgbClr val="61E6A3">
                <a:alpha val="93000"/>
              </a:srgbClr>
            </a:solidFill>
            <a:prstDash val="solid"/>
          </a:ln>
        </p:spPr>
      </p:sp>
      <p:sp>
        <p:nvSpPr>
          <p:cNvPr id="14" name="Text 12"/>
          <p:cNvSpPr/>
          <p:nvPr/>
        </p:nvSpPr>
        <p:spPr>
          <a:xfrm>
            <a:off x="4206240" y="2385932"/>
            <a:ext cx="1426464" cy="201168"/>
          </a:xfrm>
          <a:prstGeom prst="rect">
            <a:avLst/>
          </a:prstGeom>
          <a:noFill/>
          <a:ln/>
        </p:spPr>
        <p:txBody>
          <a:bodyPr wrap="square" lIns="0" tIns="0" rIns="0" bIns="0" rtlCol="0" anchor="ctr">
            <a:noAutofit/>
          </a:bodyPr>
          <a:lstStyle/>
          <a:p>
            <a:pPr marL="0" indent="0" algn="ctr">
              <a:buNone/>
            </a:pPr>
            <a:r>
              <a:rPr lang="en-US" sz="2000" b="1" dirty="0">
                <a:solidFill>
                  <a:srgbClr val="61E6A3"/>
                </a:solidFill>
                <a:latin typeface="Times New Roman" pitchFamily="34" charset="0"/>
                <a:ea typeface="Times New Roman" pitchFamily="34" charset="-122"/>
                <a:cs typeface="Times New Roman" pitchFamily="34" charset="-120"/>
              </a:rPr>
              <a:t>25</a:t>
            </a:r>
            <a:endParaRPr lang="en-US" sz="2000" dirty="0"/>
          </a:p>
        </p:txBody>
      </p:sp>
      <p:sp>
        <p:nvSpPr>
          <p:cNvPr id="15" name="Text 13"/>
          <p:cNvSpPr/>
          <p:nvPr/>
        </p:nvSpPr>
        <p:spPr>
          <a:xfrm>
            <a:off x="4206240" y="2669396"/>
            <a:ext cx="1426464" cy="109728"/>
          </a:xfrm>
          <a:prstGeom prst="rect">
            <a:avLst/>
          </a:prstGeom>
          <a:noFill/>
          <a:ln/>
        </p:spPr>
        <p:txBody>
          <a:bodyPr wrap="square" lIns="0" tIns="0" rIns="0" bIns="0" rtlCol="0" anchor="ctr">
            <a:noAutofit/>
          </a:bodyPr>
          <a:lstStyle/>
          <a:p>
            <a:pPr marL="0" indent="0" algn="ctr">
              <a:buNone/>
            </a:pPr>
            <a:r>
              <a:rPr lang="en-US" sz="1050" b="1" dirty="0">
                <a:solidFill>
                  <a:srgbClr val="B5C7D8"/>
                </a:solidFill>
                <a:latin typeface="Times New Roman" pitchFamily="34" charset="0"/>
                <a:ea typeface="Times New Roman" pitchFamily="34" charset="-122"/>
                <a:cs typeface="Times New Roman" pitchFamily="34" charset="-120"/>
              </a:rPr>
              <a:t>3D body joints / frame</a:t>
            </a:r>
            <a:endParaRPr lang="en-US" sz="1050" dirty="0"/>
          </a:p>
        </p:txBody>
      </p:sp>
      <p:sp>
        <p:nvSpPr>
          <p:cNvPr id="16" name="Shape 14"/>
          <p:cNvSpPr/>
          <p:nvPr/>
        </p:nvSpPr>
        <p:spPr>
          <a:xfrm>
            <a:off x="5870448" y="2312780"/>
            <a:ext cx="1783080" cy="566928"/>
          </a:xfrm>
          <a:prstGeom prst="roundRect">
            <a:avLst>
              <a:gd name="adj" fmla="val 9677"/>
            </a:avLst>
          </a:prstGeom>
          <a:solidFill>
            <a:srgbClr val="0B2036"/>
          </a:solidFill>
          <a:ln w="12700">
            <a:solidFill>
              <a:srgbClr val="BA8CFF">
                <a:alpha val="93000"/>
              </a:srgbClr>
            </a:solidFill>
            <a:prstDash val="solid"/>
          </a:ln>
        </p:spPr>
      </p:sp>
      <p:sp>
        <p:nvSpPr>
          <p:cNvPr id="17" name="Text 15"/>
          <p:cNvSpPr/>
          <p:nvPr/>
        </p:nvSpPr>
        <p:spPr>
          <a:xfrm>
            <a:off x="5943600" y="2385932"/>
            <a:ext cx="1636776" cy="201168"/>
          </a:xfrm>
          <a:prstGeom prst="rect">
            <a:avLst/>
          </a:prstGeom>
          <a:noFill/>
          <a:ln/>
        </p:spPr>
        <p:txBody>
          <a:bodyPr wrap="square" lIns="0" tIns="0" rIns="0" bIns="0" rtlCol="0" anchor="ctr">
            <a:noAutofit/>
          </a:bodyPr>
          <a:lstStyle/>
          <a:p>
            <a:pPr marL="0" indent="0" algn="ctr">
              <a:buNone/>
            </a:pPr>
            <a:r>
              <a:rPr lang="en-US" sz="2000" b="1" dirty="0">
                <a:solidFill>
                  <a:srgbClr val="BA8CFF"/>
                </a:solidFill>
                <a:latin typeface="Times New Roman" pitchFamily="34" charset="0"/>
                <a:ea typeface="Times New Roman" pitchFamily="34" charset="-122"/>
                <a:cs typeface="Times New Roman" pitchFamily="34" charset="-120"/>
              </a:rPr>
              <a:t>4</a:t>
            </a:r>
            <a:endParaRPr lang="en-US" sz="2000" dirty="0"/>
          </a:p>
        </p:txBody>
      </p:sp>
      <p:sp>
        <p:nvSpPr>
          <p:cNvPr id="18" name="Text 16"/>
          <p:cNvSpPr/>
          <p:nvPr/>
        </p:nvSpPr>
        <p:spPr>
          <a:xfrm>
            <a:off x="5943600" y="2669396"/>
            <a:ext cx="1636776" cy="109728"/>
          </a:xfrm>
          <a:prstGeom prst="rect">
            <a:avLst/>
          </a:prstGeom>
          <a:noFill/>
          <a:ln/>
        </p:spPr>
        <p:txBody>
          <a:bodyPr wrap="square" lIns="0" tIns="0" rIns="0" bIns="0" rtlCol="0" anchor="ctr">
            <a:noAutofit/>
          </a:bodyPr>
          <a:lstStyle/>
          <a:p>
            <a:pPr marL="0" indent="0" algn="ctr">
              <a:buNone/>
            </a:pPr>
            <a:r>
              <a:rPr lang="en-US" sz="1050" b="1" dirty="0">
                <a:solidFill>
                  <a:srgbClr val="B5C7D8"/>
                </a:solidFill>
                <a:latin typeface="Times New Roman" pitchFamily="34" charset="0"/>
                <a:ea typeface="Times New Roman" pitchFamily="34" charset="-122"/>
                <a:cs typeface="Times New Roman" pitchFamily="34" charset="-120"/>
              </a:rPr>
              <a:t>modalities: RGB, depth, IR, skeleton</a:t>
            </a:r>
            <a:endParaRPr lang="en-US" sz="1050" dirty="0"/>
          </a:p>
        </p:txBody>
      </p:sp>
      <p:sp>
        <p:nvSpPr>
          <p:cNvPr id="19" name="Shape 17"/>
          <p:cNvSpPr/>
          <p:nvPr/>
        </p:nvSpPr>
        <p:spPr>
          <a:xfrm>
            <a:off x="469527" y="3498981"/>
            <a:ext cx="3703320" cy="2480635"/>
          </a:xfrm>
          <a:prstGeom prst="roundRect">
            <a:avLst>
              <a:gd name="adj" fmla="val 3265"/>
            </a:avLst>
          </a:prstGeom>
          <a:solidFill>
            <a:srgbClr val="0B2036">
              <a:alpha val="97000"/>
            </a:srgbClr>
          </a:solidFill>
          <a:ln w="9525">
            <a:solidFill>
              <a:srgbClr val="1F6E96">
                <a:alpha val="72000"/>
              </a:srgbClr>
            </a:solidFill>
            <a:prstDash val="solid"/>
          </a:ln>
        </p:spPr>
      </p:sp>
      <p:sp>
        <p:nvSpPr>
          <p:cNvPr id="20" name="Text 18"/>
          <p:cNvSpPr/>
          <p:nvPr/>
        </p:nvSpPr>
        <p:spPr>
          <a:xfrm>
            <a:off x="707271" y="3668796"/>
            <a:ext cx="1920240" cy="155448"/>
          </a:xfrm>
          <a:prstGeom prst="rect">
            <a:avLst/>
          </a:prstGeom>
          <a:noFill/>
          <a:ln/>
        </p:spPr>
        <p:txBody>
          <a:bodyPr wrap="square" lIns="0" tIns="0" rIns="0" bIns="0" rtlCol="0" anchor="ctr">
            <a:noAutofit/>
          </a:bodyPr>
          <a:lstStyle/>
          <a:p>
            <a:pPr marL="0" indent="0">
              <a:buNone/>
            </a:pPr>
            <a:r>
              <a:rPr lang="en-US" sz="1100" b="1" dirty="0">
                <a:solidFill>
                  <a:srgbClr val="2DEBFF"/>
                </a:solidFill>
                <a:latin typeface="Times New Roman" pitchFamily="34" charset="0"/>
                <a:ea typeface="Times New Roman" pitchFamily="34" charset="-122"/>
                <a:cs typeface="Times New Roman" pitchFamily="34" charset="-120"/>
              </a:rPr>
              <a:t>SELECTED NTU ACTION LABELS</a:t>
            </a:r>
            <a:endParaRPr lang="en-US" sz="1100" dirty="0"/>
          </a:p>
        </p:txBody>
      </p:sp>
      <p:sp>
        <p:nvSpPr>
          <p:cNvPr id="21" name="Text 19"/>
          <p:cNvSpPr/>
          <p:nvPr/>
        </p:nvSpPr>
        <p:spPr>
          <a:xfrm>
            <a:off x="700356" y="4102484"/>
            <a:ext cx="384048" cy="182880"/>
          </a:xfrm>
          <a:prstGeom prst="rect">
            <a:avLst/>
          </a:prstGeom>
          <a:noFill/>
          <a:ln/>
        </p:spPr>
        <p:txBody>
          <a:bodyPr wrap="square" lIns="0" tIns="0" rIns="0" bIns="0" rtlCol="0" anchor="ctr">
            <a:normAutofit/>
          </a:bodyPr>
          <a:lstStyle/>
          <a:p>
            <a:pPr marL="0" indent="0">
              <a:buNone/>
            </a:pPr>
            <a:r>
              <a:rPr lang="en-US" sz="1100" dirty="0">
                <a:solidFill>
                  <a:srgbClr val="2DEBFF"/>
                </a:solidFill>
                <a:latin typeface="Times New Roman" pitchFamily="34" charset="0"/>
                <a:ea typeface="Times New Roman" pitchFamily="34" charset="-122"/>
                <a:cs typeface="Times New Roman" pitchFamily="34" charset="-120"/>
              </a:rPr>
              <a:t>A42</a:t>
            </a:r>
            <a:endParaRPr lang="en-US" sz="1100" dirty="0"/>
          </a:p>
        </p:txBody>
      </p:sp>
      <p:sp>
        <p:nvSpPr>
          <p:cNvPr id="22" name="Text 20"/>
          <p:cNvSpPr/>
          <p:nvPr/>
        </p:nvSpPr>
        <p:spPr>
          <a:xfrm>
            <a:off x="1221564" y="4102484"/>
            <a:ext cx="1143000" cy="182880"/>
          </a:xfrm>
          <a:prstGeom prst="rect">
            <a:avLst/>
          </a:prstGeom>
          <a:noFill/>
          <a:ln/>
        </p:spPr>
        <p:txBody>
          <a:bodyPr wrap="square" lIns="0" tIns="0" rIns="0" bIns="0" rtlCol="0" anchor="ctr">
            <a:normAutofit/>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staggering</a:t>
            </a:r>
            <a:endParaRPr lang="en-US" sz="1100" dirty="0"/>
          </a:p>
        </p:txBody>
      </p:sp>
      <p:sp>
        <p:nvSpPr>
          <p:cNvPr id="23" name="Text 21"/>
          <p:cNvSpPr/>
          <p:nvPr/>
        </p:nvSpPr>
        <p:spPr>
          <a:xfrm>
            <a:off x="2593164" y="4102484"/>
            <a:ext cx="1325880" cy="182880"/>
          </a:xfrm>
          <a:prstGeom prst="rect">
            <a:avLst/>
          </a:prstGeom>
          <a:noFill/>
          <a:ln/>
        </p:spPr>
        <p:txBody>
          <a:bodyPr wrap="square" lIns="0" tIns="0" rIns="0" bIns="0" rtlCol="0" anchor="ctr">
            <a:normAutofit/>
          </a:bodyPr>
          <a:lstStyle/>
          <a:p>
            <a:pPr marL="0" indent="0">
              <a:buNone/>
            </a:pPr>
            <a:r>
              <a:rPr lang="en-US" sz="1100" dirty="0">
                <a:solidFill>
                  <a:srgbClr val="B5C7D8"/>
                </a:solidFill>
                <a:latin typeface="Times New Roman" pitchFamily="34" charset="0"/>
                <a:ea typeface="Times New Roman" pitchFamily="34" charset="-122"/>
                <a:cs typeface="Times New Roman" pitchFamily="34" charset="-120"/>
              </a:rPr>
              <a:t>Unbalanced Movement</a:t>
            </a:r>
            <a:endParaRPr lang="en-US" sz="1100" dirty="0"/>
          </a:p>
        </p:txBody>
      </p:sp>
      <p:sp>
        <p:nvSpPr>
          <p:cNvPr id="24" name="Text 22"/>
          <p:cNvSpPr/>
          <p:nvPr/>
        </p:nvSpPr>
        <p:spPr>
          <a:xfrm>
            <a:off x="700356" y="4459100"/>
            <a:ext cx="384048" cy="182880"/>
          </a:xfrm>
          <a:prstGeom prst="rect">
            <a:avLst/>
          </a:prstGeom>
          <a:noFill/>
          <a:ln/>
        </p:spPr>
        <p:txBody>
          <a:bodyPr wrap="square" lIns="0" tIns="0" rIns="0" bIns="0" rtlCol="0" anchor="ctr">
            <a:normAutofit/>
          </a:bodyPr>
          <a:lstStyle/>
          <a:p>
            <a:pPr marL="0" indent="0">
              <a:buNone/>
            </a:pPr>
            <a:r>
              <a:rPr lang="en-US" sz="1100" dirty="0">
                <a:solidFill>
                  <a:srgbClr val="2DEBFF"/>
                </a:solidFill>
                <a:latin typeface="Times New Roman" pitchFamily="34" charset="0"/>
                <a:ea typeface="Times New Roman" pitchFamily="34" charset="-122"/>
                <a:cs typeface="Times New Roman" pitchFamily="34" charset="-120"/>
              </a:rPr>
              <a:t>A43</a:t>
            </a:r>
            <a:endParaRPr lang="en-US" sz="1100" dirty="0"/>
          </a:p>
        </p:txBody>
      </p:sp>
      <p:sp>
        <p:nvSpPr>
          <p:cNvPr id="25" name="Text 23"/>
          <p:cNvSpPr/>
          <p:nvPr/>
        </p:nvSpPr>
        <p:spPr>
          <a:xfrm>
            <a:off x="1221564" y="4459100"/>
            <a:ext cx="1143000" cy="182880"/>
          </a:xfrm>
          <a:prstGeom prst="rect">
            <a:avLst/>
          </a:prstGeom>
          <a:noFill/>
          <a:ln/>
        </p:spPr>
        <p:txBody>
          <a:bodyPr wrap="square" lIns="0" tIns="0" rIns="0" bIns="0" rtlCol="0" anchor="ctr">
            <a:normAutofit/>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falling</a:t>
            </a:r>
            <a:endParaRPr lang="en-US" sz="1100" dirty="0"/>
          </a:p>
        </p:txBody>
      </p:sp>
      <p:sp>
        <p:nvSpPr>
          <p:cNvPr id="26" name="Text 24"/>
          <p:cNvSpPr/>
          <p:nvPr/>
        </p:nvSpPr>
        <p:spPr>
          <a:xfrm>
            <a:off x="2593164" y="4459100"/>
            <a:ext cx="1325880" cy="182880"/>
          </a:xfrm>
          <a:prstGeom prst="rect">
            <a:avLst/>
          </a:prstGeom>
          <a:noFill/>
          <a:ln/>
        </p:spPr>
        <p:txBody>
          <a:bodyPr wrap="square" lIns="0" tIns="0" rIns="0" bIns="0" rtlCol="0" anchor="ctr">
            <a:normAutofit/>
          </a:bodyPr>
          <a:lstStyle/>
          <a:p>
            <a:pPr marL="0" indent="0">
              <a:buNone/>
            </a:pPr>
            <a:r>
              <a:rPr lang="en-US" sz="1100" dirty="0">
                <a:solidFill>
                  <a:srgbClr val="B5C7D8"/>
                </a:solidFill>
                <a:latin typeface="Times New Roman" pitchFamily="34" charset="0"/>
                <a:ea typeface="Times New Roman" pitchFamily="34" charset="-122"/>
                <a:cs typeface="Times New Roman" pitchFamily="34" charset="-120"/>
              </a:rPr>
              <a:t>Fall Detection</a:t>
            </a:r>
            <a:endParaRPr lang="en-US" sz="1100" dirty="0"/>
          </a:p>
        </p:txBody>
      </p:sp>
      <p:sp>
        <p:nvSpPr>
          <p:cNvPr id="27" name="Text 25"/>
          <p:cNvSpPr/>
          <p:nvPr/>
        </p:nvSpPr>
        <p:spPr>
          <a:xfrm>
            <a:off x="700356" y="4815716"/>
            <a:ext cx="384048" cy="182880"/>
          </a:xfrm>
          <a:prstGeom prst="rect">
            <a:avLst/>
          </a:prstGeom>
          <a:noFill/>
          <a:ln/>
        </p:spPr>
        <p:txBody>
          <a:bodyPr wrap="square" lIns="0" tIns="0" rIns="0" bIns="0" rtlCol="0" anchor="ctr">
            <a:normAutofit/>
          </a:bodyPr>
          <a:lstStyle/>
          <a:p>
            <a:pPr marL="0" indent="0">
              <a:buNone/>
            </a:pPr>
            <a:r>
              <a:rPr lang="en-US" sz="1100" dirty="0">
                <a:solidFill>
                  <a:srgbClr val="2DEBFF"/>
                </a:solidFill>
                <a:latin typeface="Times New Roman" pitchFamily="34" charset="0"/>
                <a:ea typeface="Times New Roman" pitchFamily="34" charset="-122"/>
                <a:cs typeface="Times New Roman" pitchFamily="34" charset="-120"/>
              </a:rPr>
              <a:t>A45</a:t>
            </a:r>
            <a:endParaRPr lang="en-US" sz="1100" dirty="0"/>
          </a:p>
        </p:txBody>
      </p:sp>
      <p:sp>
        <p:nvSpPr>
          <p:cNvPr id="28" name="Text 26"/>
          <p:cNvSpPr/>
          <p:nvPr/>
        </p:nvSpPr>
        <p:spPr>
          <a:xfrm>
            <a:off x="1221564" y="4815716"/>
            <a:ext cx="1143000" cy="182880"/>
          </a:xfrm>
          <a:prstGeom prst="rect">
            <a:avLst/>
          </a:prstGeom>
          <a:noFill/>
          <a:ln/>
        </p:spPr>
        <p:txBody>
          <a:bodyPr wrap="square" lIns="0" tIns="0" rIns="0" bIns="0" rtlCol="0" anchor="ctr">
            <a:normAutofit/>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touch chest</a:t>
            </a:r>
            <a:endParaRPr lang="en-US" sz="1100" dirty="0"/>
          </a:p>
        </p:txBody>
      </p:sp>
      <p:sp>
        <p:nvSpPr>
          <p:cNvPr id="29" name="Text 27"/>
          <p:cNvSpPr/>
          <p:nvPr/>
        </p:nvSpPr>
        <p:spPr>
          <a:xfrm>
            <a:off x="2593164" y="4815716"/>
            <a:ext cx="1325880" cy="182880"/>
          </a:xfrm>
          <a:prstGeom prst="rect">
            <a:avLst/>
          </a:prstGeom>
          <a:noFill/>
          <a:ln/>
        </p:spPr>
        <p:txBody>
          <a:bodyPr wrap="square" lIns="0" tIns="0" rIns="0" bIns="0" rtlCol="0" anchor="ctr">
            <a:normAutofit/>
          </a:bodyPr>
          <a:lstStyle/>
          <a:p>
            <a:pPr marL="0" indent="0">
              <a:buNone/>
            </a:pPr>
            <a:r>
              <a:rPr lang="en-US" sz="1100" dirty="0">
                <a:solidFill>
                  <a:srgbClr val="B5C7D8"/>
                </a:solidFill>
                <a:latin typeface="Times New Roman" pitchFamily="34" charset="0"/>
                <a:ea typeface="Times New Roman" pitchFamily="34" charset="-122"/>
                <a:cs typeface="Times New Roman" pitchFamily="34" charset="-120"/>
              </a:rPr>
              <a:t>Chest Pain Gesture</a:t>
            </a:r>
            <a:endParaRPr lang="en-US" sz="1100" dirty="0"/>
          </a:p>
        </p:txBody>
      </p:sp>
      <p:sp>
        <p:nvSpPr>
          <p:cNvPr id="30" name="Text 28"/>
          <p:cNvSpPr/>
          <p:nvPr/>
        </p:nvSpPr>
        <p:spPr>
          <a:xfrm>
            <a:off x="700356" y="5172332"/>
            <a:ext cx="457200" cy="182880"/>
          </a:xfrm>
          <a:prstGeom prst="rect">
            <a:avLst/>
          </a:prstGeom>
          <a:noFill/>
          <a:ln/>
        </p:spPr>
        <p:txBody>
          <a:bodyPr wrap="square" lIns="0" tIns="0" rIns="0" bIns="0" rtlCol="0" anchor="ctr">
            <a:noAutofit/>
          </a:bodyPr>
          <a:lstStyle/>
          <a:p>
            <a:pPr marL="0" indent="0">
              <a:buNone/>
            </a:pPr>
            <a:r>
              <a:rPr lang="en-US" sz="1050" dirty="0">
                <a:solidFill>
                  <a:srgbClr val="2DEBFF"/>
                </a:solidFill>
                <a:latin typeface="Times New Roman" pitchFamily="34" charset="0"/>
                <a:ea typeface="Times New Roman" pitchFamily="34" charset="-122"/>
                <a:cs typeface="Times New Roman" pitchFamily="34" charset="-120"/>
              </a:rPr>
              <a:t>A1/A8/A9/...</a:t>
            </a:r>
            <a:endParaRPr lang="en-US" sz="1050" dirty="0"/>
          </a:p>
        </p:txBody>
      </p:sp>
      <p:sp>
        <p:nvSpPr>
          <p:cNvPr id="31" name="Text 29"/>
          <p:cNvSpPr/>
          <p:nvPr/>
        </p:nvSpPr>
        <p:spPr>
          <a:xfrm>
            <a:off x="1221564" y="5172332"/>
            <a:ext cx="1143000" cy="182880"/>
          </a:xfrm>
          <a:prstGeom prst="rect">
            <a:avLst/>
          </a:prstGeom>
          <a:noFill/>
          <a:ln/>
        </p:spPr>
        <p:txBody>
          <a:bodyPr wrap="square" lIns="0" tIns="0" rIns="0" bIns="0" rtlCol="0" anchor="ctr">
            <a:normAutofit/>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daily actions</a:t>
            </a:r>
            <a:endParaRPr lang="en-US" sz="1100" dirty="0"/>
          </a:p>
        </p:txBody>
      </p:sp>
      <p:sp>
        <p:nvSpPr>
          <p:cNvPr id="32" name="Text 30"/>
          <p:cNvSpPr/>
          <p:nvPr/>
        </p:nvSpPr>
        <p:spPr>
          <a:xfrm>
            <a:off x="2593164" y="5172332"/>
            <a:ext cx="1371600" cy="182880"/>
          </a:xfrm>
          <a:prstGeom prst="rect">
            <a:avLst/>
          </a:prstGeom>
          <a:noFill/>
          <a:ln/>
        </p:spPr>
        <p:txBody>
          <a:bodyPr wrap="square" lIns="0" tIns="0" rIns="0" bIns="0" rtlCol="0" anchor="ctr">
            <a:noAutofit/>
          </a:bodyPr>
          <a:lstStyle/>
          <a:p>
            <a:pPr marL="0" indent="0">
              <a:buNone/>
            </a:pPr>
            <a:r>
              <a:rPr lang="en-US" sz="1100" dirty="0">
                <a:solidFill>
                  <a:srgbClr val="B5C7D8"/>
                </a:solidFill>
                <a:latin typeface="Times New Roman" pitchFamily="34" charset="0"/>
                <a:ea typeface="Times New Roman" pitchFamily="34" charset="-122"/>
                <a:cs typeface="Times New Roman" pitchFamily="34" charset="-120"/>
              </a:rPr>
              <a:t>Normal Activity baseline</a:t>
            </a:r>
            <a:endParaRPr lang="en-US" sz="1100" dirty="0"/>
          </a:p>
        </p:txBody>
      </p:sp>
      <p:sp>
        <p:nvSpPr>
          <p:cNvPr id="33" name="Text 31"/>
          <p:cNvSpPr/>
          <p:nvPr/>
        </p:nvSpPr>
        <p:spPr>
          <a:xfrm>
            <a:off x="700356" y="5574016"/>
            <a:ext cx="3017520" cy="118872"/>
          </a:xfrm>
          <a:prstGeom prst="rect">
            <a:avLst/>
          </a:prstGeom>
          <a:noFill/>
          <a:ln/>
        </p:spPr>
        <p:txBody>
          <a:bodyPr wrap="square" lIns="0" tIns="0" rIns="0" bIns="0" rtlCol="0" anchor="ctr">
            <a:noAutofit/>
          </a:bodyPr>
          <a:lstStyle/>
          <a:p>
            <a:pPr marL="0" indent="0">
              <a:buNone/>
            </a:pPr>
            <a:r>
              <a:rPr lang="en-US" sz="900" dirty="0">
                <a:solidFill>
                  <a:srgbClr val="F3C45B"/>
                </a:solidFill>
                <a:latin typeface="Times New Roman" pitchFamily="34" charset="0"/>
                <a:ea typeface="Times New Roman" pitchFamily="34" charset="-122"/>
                <a:cs typeface="Times New Roman" pitchFamily="34" charset="-120"/>
              </a:rPr>
              <a:t>Note: “Motionless After Fall” will be treated as a temporal rule after a fall, not as a separate NTU class.</a:t>
            </a:r>
            <a:endParaRPr lang="en-US" sz="900" dirty="0"/>
          </a:p>
        </p:txBody>
      </p:sp>
      <p:sp>
        <p:nvSpPr>
          <p:cNvPr id="34" name="Shape 32"/>
          <p:cNvSpPr/>
          <p:nvPr/>
        </p:nvSpPr>
        <p:spPr>
          <a:xfrm>
            <a:off x="4428879" y="3498981"/>
            <a:ext cx="3017520" cy="2480635"/>
          </a:xfrm>
          <a:prstGeom prst="roundRect">
            <a:avLst>
              <a:gd name="adj" fmla="val 3265"/>
            </a:avLst>
          </a:prstGeom>
          <a:solidFill>
            <a:srgbClr val="0B2036">
              <a:alpha val="97000"/>
            </a:srgbClr>
          </a:solidFill>
          <a:ln w="9525">
            <a:solidFill>
              <a:srgbClr val="1F6E96">
                <a:alpha val="72000"/>
              </a:srgbClr>
            </a:solidFill>
            <a:prstDash val="solid"/>
          </a:ln>
        </p:spPr>
      </p:sp>
      <p:sp>
        <p:nvSpPr>
          <p:cNvPr id="35" name="Text 33"/>
          <p:cNvSpPr/>
          <p:nvPr/>
        </p:nvSpPr>
        <p:spPr>
          <a:xfrm>
            <a:off x="4694055" y="3668796"/>
            <a:ext cx="1920240" cy="155448"/>
          </a:xfrm>
          <a:prstGeom prst="rect">
            <a:avLst/>
          </a:prstGeom>
          <a:noFill/>
          <a:ln/>
        </p:spPr>
        <p:txBody>
          <a:bodyPr wrap="square" lIns="0" tIns="0" rIns="0" bIns="0" rtlCol="0" anchor="ctr">
            <a:noAutofit/>
          </a:bodyPr>
          <a:lstStyle/>
          <a:p>
            <a:pPr marL="0" indent="0">
              <a:buNone/>
            </a:pPr>
            <a:r>
              <a:rPr lang="en-US" sz="1100" b="1" dirty="0">
                <a:solidFill>
                  <a:srgbClr val="F3C45B"/>
                </a:solidFill>
                <a:latin typeface="Times New Roman" pitchFamily="34" charset="0"/>
                <a:ea typeface="Times New Roman" pitchFamily="34" charset="-122"/>
                <a:cs typeface="Times New Roman" pitchFamily="34" charset="-120"/>
              </a:rPr>
              <a:t>SKELETON NORMALISATION</a:t>
            </a:r>
            <a:endParaRPr lang="en-US" sz="1100" dirty="0"/>
          </a:p>
        </p:txBody>
      </p:sp>
      <p:sp>
        <p:nvSpPr>
          <p:cNvPr id="36" name="Shape 34"/>
          <p:cNvSpPr/>
          <p:nvPr/>
        </p:nvSpPr>
        <p:spPr>
          <a:xfrm>
            <a:off x="4657479" y="4151003"/>
            <a:ext cx="59436" cy="59436"/>
          </a:xfrm>
          <a:prstGeom prst="ellipse">
            <a:avLst/>
          </a:prstGeom>
          <a:solidFill>
            <a:srgbClr val="2DEBFF"/>
          </a:solidFill>
          <a:ln w="12700">
            <a:solidFill>
              <a:srgbClr val="2DEBFF">
                <a:alpha val="0"/>
              </a:srgbClr>
            </a:solidFill>
            <a:prstDash val="solid"/>
          </a:ln>
        </p:spPr>
      </p:sp>
      <p:sp>
        <p:nvSpPr>
          <p:cNvPr id="37" name="Text 35"/>
          <p:cNvSpPr/>
          <p:nvPr/>
        </p:nvSpPr>
        <p:spPr>
          <a:xfrm>
            <a:off x="4785495" y="4086995"/>
            <a:ext cx="2331720" cy="182880"/>
          </a:xfrm>
          <a:prstGeom prst="rect">
            <a:avLst/>
          </a:prstGeom>
          <a:noFill/>
          <a:ln/>
        </p:spPr>
        <p:txBody>
          <a:bodyPr wrap="square" lIns="0" tIns="0" rIns="0" bIns="0" rtlCol="0" anchor="ctr">
            <a:noAutofit/>
          </a:bodyPr>
          <a:lstStyle/>
          <a:p>
            <a:pPr marL="0" indent="0">
              <a:buNone/>
            </a:pPr>
            <a:r>
              <a:rPr lang="en-US" sz="1050" dirty="0">
                <a:solidFill>
                  <a:srgbClr val="FFFFFF"/>
                </a:solidFill>
                <a:latin typeface="Times New Roman" pitchFamily="34" charset="0"/>
                <a:ea typeface="Times New Roman" pitchFamily="34" charset="-122"/>
                <a:cs typeface="Times New Roman" pitchFamily="34" charset="-120"/>
              </a:rPr>
              <a:t>Select common joints only: shoulders, elbows, wrists, hips, knees, ankles.</a:t>
            </a:r>
            <a:endParaRPr lang="en-US" sz="1050" dirty="0"/>
          </a:p>
        </p:txBody>
      </p:sp>
      <p:sp>
        <p:nvSpPr>
          <p:cNvPr id="38" name="Shape 36"/>
          <p:cNvSpPr/>
          <p:nvPr/>
        </p:nvSpPr>
        <p:spPr>
          <a:xfrm>
            <a:off x="4657479" y="4562483"/>
            <a:ext cx="59436" cy="59436"/>
          </a:xfrm>
          <a:prstGeom prst="ellipse">
            <a:avLst/>
          </a:prstGeom>
          <a:solidFill>
            <a:srgbClr val="2DEBFF"/>
          </a:solidFill>
          <a:ln w="12700">
            <a:solidFill>
              <a:srgbClr val="2DEBFF">
                <a:alpha val="0"/>
              </a:srgbClr>
            </a:solidFill>
            <a:prstDash val="solid"/>
          </a:ln>
        </p:spPr>
      </p:sp>
      <p:sp>
        <p:nvSpPr>
          <p:cNvPr id="39" name="Text 37"/>
          <p:cNvSpPr/>
          <p:nvPr/>
        </p:nvSpPr>
        <p:spPr>
          <a:xfrm>
            <a:off x="4785495" y="4498475"/>
            <a:ext cx="2331720" cy="182880"/>
          </a:xfrm>
          <a:prstGeom prst="rect">
            <a:avLst/>
          </a:prstGeom>
          <a:noFill/>
          <a:ln/>
        </p:spPr>
        <p:txBody>
          <a:bodyPr wrap="square" lIns="0" tIns="0" rIns="0" bIns="0" rtlCol="0" anchor="ctr">
            <a:noAutofit/>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Convert every frame into one fixed 12-joint format.</a:t>
            </a:r>
            <a:endParaRPr lang="en-US" sz="1100" dirty="0"/>
          </a:p>
        </p:txBody>
      </p:sp>
      <p:sp>
        <p:nvSpPr>
          <p:cNvPr id="40" name="Shape 38"/>
          <p:cNvSpPr/>
          <p:nvPr/>
        </p:nvSpPr>
        <p:spPr>
          <a:xfrm>
            <a:off x="4657479" y="4973963"/>
            <a:ext cx="59436" cy="59436"/>
          </a:xfrm>
          <a:prstGeom prst="ellipse">
            <a:avLst/>
          </a:prstGeom>
          <a:solidFill>
            <a:srgbClr val="2DEBFF"/>
          </a:solidFill>
          <a:ln w="12700">
            <a:solidFill>
              <a:srgbClr val="2DEBFF">
                <a:alpha val="0"/>
              </a:srgbClr>
            </a:solidFill>
            <a:prstDash val="solid"/>
          </a:ln>
        </p:spPr>
      </p:sp>
      <p:sp>
        <p:nvSpPr>
          <p:cNvPr id="41" name="Text 39"/>
          <p:cNvSpPr/>
          <p:nvPr/>
        </p:nvSpPr>
        <p:spPr>
          <a:xfrm>
            <a:off x="4785495" y="4909955"/>
            <a:ext cx="2331720" cy="182880"/>
          </a:xfrm>
          <a:prstGeom prst="rect">
            <a:avLst/>
          </a:prstGeom>
          <a:noFill/>
          <a:ln/>
        </p:spPr>
        <p:txBody>
          <a:bodyPr wrap="square" lIns="0" tIns="0" rIns="0" bIns="0" rtlCol="0" anchor="ctr">
            <a:noAutofit/>
          </a:bodyPr>
          <a:lstStyle/>
          <a:p>
            <a:pPr marL="0" indent="0">
              <a:buNone/>
            </a:pPr>
            <a:r>
              <a:rPr lang="en-US" sz="1050" dirty="0">
                <a:solidFill>
                  <a:srgbClr val="FFFFFF"/>
                </a:solidFill>
                <a:latin typeface="Times New Roman" pitchFamily="34" charset="0"/>
                <a:ea typeface="Times New Roman" pitchFamily="34" charset="-122"/>
                <a:cs typeface="Times New Roman" pitchFamily="34" charset="-120"/>
              </a:rPr>
              <a:t>Centre skeleton at hip midpoint, then scale by torso/body size.</a:t>
            </a:r>
            <a:endParaRPr lang="en-US" sz="1050" dirty="0"/>
          </a:p>
        </p:txBody>
      </p:sp>
      <p:sp>
        <p:nvSpPr>
          <p:cNvPr id="42" name="Shape 40"/>
          <p:cNvSpPr/>
          <p:nvPr/>
        </p:nvSpPr>
        <p:spPr>
          <a:xfrm>
            <a:off x="4657479" y="5385443"/>
            <a:ext cx="59436" cy="59436"/>
          </a:xfrm>
          <a:prstGeom prst="ellipse">
            <a:avLst/>
          </a:prstGeom>
          <a:solidFill>
            <a:srgbClr val="2DEBFF"/>
          </a:solidFill>
          <a:ln w="12700">
            <a:solidFill>
              <a:srgbClr val="2DEBFF">
                <a:alpha val="0"/>
              </a:srgbClr>
            </a:solidFill>
            <a:prstDash val="solid"/>
          </a:ln>
        </p:spPr>
      </p:sp>
      <p:sp>
        <p:nvSpPr>
          <p:cNvPr id="43" name="Text 41"/>
          <p:cNvSpPr/>
          <p:nvPr/>
        </p:nvSpPr>
        <p:spPr>
          <a:xfrm>
            <a:off x="4785495" y="5321435"/>
            <a:ext cx="2331720" cy="182880"/>
          </a:xfrm>
          <a:prstGeom prst="rect">
            <a:avLst/>
          </a:prstGeom>
          <a:noFill/>
          <a:ln/>
        </p:spPr>
        <p:txBody>
          <a:bodyPr wrap="square" lIns="0" tIns="0" rIns="0" bIns="0" rtlCol="0" anchor="ctr">
            <a:noAutofit/>
          </a:bodyPr>
          <a:lstStyle/>
          <a:p>
            <a:pPr marL="0" indent="0">
              <a:buNone/>
            </a:pPr>
            <a:r>
              <a:rPr lang="en-US" sz="1050" dirty="0">
                <a:solidFill>
                  <a:srgbClr val="FFFFFF"/>
                </a:solidFill>
                <a:latin typeface="Times New Roman" pitchFamily="34" charset="0"/>
                <a:ea typeface="Times New Roman" pitchFamily="34" charset="-122"/>
                <a:cs typeface="Times New Roman" pitchFamily="34" charset="-120"/>
              </a:rPr>
              <a:t>Drop missing/incomplete skeleton samples before training.</a:t>
            </a:r>
            <a:endParaRPr lang="en-US" sz="1050" dirty="0"/>
          </a:p>
        </p:txBody>
      </p:sp>
      <p:sp>
        <p:nvSpPr>
          <p:cNvPr id="44" name="Shape 42"/>
          <p:cNvSpPr/>
          <p:nvPr/>
        </p:nvSpPr>
        <p:spPr>
          <a:xfrm>
            <a:off x="7702431" y="2312872"/>
            <a:ext cx="3154680" cy="3822192"/>
          </a:xfrm>
          <a:prstGeom prst="roundRect">
            <a:avLst>
              <a:gd name="adj" fmla="val 2319"/>
            </a:avLst>
          </a:prstGeom>
          <a:solidFill>
            <a:srgbClr val="071827">
              <a:alpha val="97000"/>
            </a:srgbClr>
          </a:solidFill>
          <a:ln w="9525">
            <a:solidFill>
              <a:srgbClr val="2DEBFF">
                <a:alpha val="72000"/>
              </a:srgbClr>
            </a:solidFill>
            <a:prstDash val="solid"/>
          </a:ln>
        </p:spPr>
      </p:sp>
      <p:sp>
        <p:nvSpPr>
          <p:cNvPr id="46" name="Text 43"/>
          <p:cNvSpPr/>
          <p:nvPr/>
        </p:nvSpPr>
        <p:spPr>
          <a:xfrm>
            <a:off x="7912743" y="4890547"/>
            <a:ext cx="1417320" cy="155448"/>
          </a:xfrm>
          <a:prstGeom prst="rect">
            <a:avLst/>
          </a:prstGeom>
          <a:noFill/>
          <a:ln/>
        </p:spPr>
        <p:txBody>
          <a:bodyPr wrap="square" lIns="0" tIns="0" rIns="0" bIns="0" rtlCol="0" anchor="ctr">
            <a:noAutofit/>
          </a:bodyPr>
          <a:lstStyle/>
          <a:p>
            <a:pPr marL="0" indent="0">
              <a:buNone/>
            </a:pPr>
            <a:r>
              <a:rPr lang="en-US" sz="1100" b="1" dirty="0">
                <a:solidFill>
                  <a:srgbClr val="61E6A3"/>
                </a:solidFill>
                <a:latin typeface="Times New Roman" pitchFamily="34" charset="0"/>
                <a:ea typeface="Times New Roman" pitchFamily="34" charset="-122"/>
                <a:cs typeface="Times New Roman" pitchFamily="34" charset="-120"/>
              </a:rPr>
              <a:t>WHY SKELETON DATA?</a:t>
            </a:r>
            <a:endParaRPr lang="en-US" sz="1100" dirty="0"/>
          </a:p>
        </p:txBody>
      </p:sp>
      <p:sp>
        <p:nvSpPr>
          <p:cNvPr id="47" name="Text 44"/>
          <p:cNvSpPr/>
          <p:nvPr/>
        </p:nvSpPr>
        <p:spPr>
          <a:xfrm>
            <a:off x="7912743" y="5321248"/>
            <a:ext cx="2651760" cy="420624"/>
          </a:xfrm>
          <a:prstGeom prst="rect">
            <a:avLst/>
          </a:prstGeom>
          <a:noFill/>
          <a:ln/>
        </p:spPr>
        <p:txBody>
          <a:bodyPr wrap="square" lIns="0" tIns="0" rIns="0" bIns="0" rtlCol="0" anchor="ctr">
            <a:noAutofit/>
          </a:bodyPr>
          <a:lstStyle/>
          <a:p>
            <a:pPr marL="0" indent="0" algn="just">
              <a:buNone/>
            </a:pPr>
            <a:r>
              <a:rPr lang="en-US" sz="1100" dirty="0">
                <a:solidFill>
                  <a:srgbClr val="B5C7D8"/>
                </a:solidFill>
                <a:latin typeface="Times New Roman" pitchFamily="34" charset="0"/>
                <a:ea typeface="Times New Roman" pitchFamily="34" charset="-122"/>
                <a:cs typeface="Times New Roman" pitchFamily="34" charset="-120"/>
              </a:rPr>
              <a:t>Skeleton sequences are smaller than raw video, avoid learning background noise, and provide movement-focused features suitable for classical ML models.</a:t>
            </a:r>
            <a:endParaRPr lang="en-US" sz="1100" dirty="0"/>
          </a:p>
        </p:txBody>
      </p:sp>
      <p:sp>
        <p:nvSpPr>
          <p:cNvPr id="48" name="Shape 45"/>
          <p:cNvSpPr/>
          <p:nvPr/>
        </p:nvSpPr>
        <p:spPr>
          <a:xfrm>
            <a:off x="438912" y="6455664"/>
            <a:ext cx="11292840" cy="0"/>
          </a:xfrm>
          <a:prstGeom prst="line">
            <a:avLst/>
          </a:prstGeom>
          <a:noFill/>
          <a:ln w="6985">
            <a:solidFill>
              <a:srgbClr val="1E5276">
                <a:alpha val="78000"/>
              </a:srgbClr>
            </a:solidFill>
            <a:prstDash val="solid"/>
          </a:ln>
        </p:spPr>
      </p:sp>
      <p:sp>
        <p:nvSpPr>
          <p:cNvPr id="49" name="Text 46"/>
          <p:cNvSpPr/>
          <p:nvPr/>
        </p:nvSpPr>
        <p:spPr>
          <a:xfrm>
            <a:off x="475488" y="6556248"/>
            <a:ext cx="7040880" cy="118872"/>
          </a:xfrm>
          <a:prstGeom prst="rect">
            <a:avLst/>
          </a:prstGeom>
          <a:noFill/>
          <a:ln/>
        </p:spPr>
        <p:txBody>
          <a:bodyPr wrap="square" lIns="0" tIns="0" rIns="0" bIns="0" rtlCol="0" anchor="ctr">
            <a:noAutofit/>
          </a:bodyPr>
          <a:lstStyle/>
          <a:p>
            <a:pPr marL="0" indent="0">
              <a:buNone/>
            </a:pPr>
            <a:r>
              <a:rPr lang="en-US" sz="1050" dirty="0">
                <a:solidFill>
                  <a:srgbClr val="7893A9"/>
                </a:solidFill>
                <a:latin typeface="Times New Roman" pitchFamily="34" charset="0"/>
                <a:ea typeface="Times New Roman" pitchFamily="34" charset="-122"/>
                <a:cs typeface="Times New Roman" pitchFamily="34" charset="-120"/>
              </a:rPr>
              <a:t>Sources: NTU RGB+D GitHub states 56,880 samples, 60 classes, RGB/depth/IR/3D skeleton modalities, and 25 joints per frame.</a:t>
            </a:r>
            <a:endParaRPr lang="en-US" sz="1050" dirty="0"/>
          </a:p>
        </p:txBody>
      </p:sp>
      <p:sp>
        <p:nvSpPr>
          <p:cNvPr id="50" name="Text 47"/>
          <p:cNvSpPr/>
          <p:nvPr/>
        </p:nvSpPr>
        <p:spPr>
          <a:xfrm>
            <a:off x="8458200" y="6556248"/>
            <a:ext cx="3063240" cy="118872"/>
          </a:xfrm>
          <a:prstGeom prst="rect">
            <a:avLst/>
          </a:prstGeom>
          <a:noFill/>
          <a:ln/>
        </p:spPr>
        <p:txBody>
          <a:bodyPr wrap="square" lIns="0" tIns="0" rIns="0" bIns="0" rtlCol="0" anchor="ctr">
            <a:normAutofit fontScale="92500" lnSpcReduction="10000"/>
          </a:bodyPr>
          <a:lstStyle/>
          <a:p>
            <a:pPr marL="0" indent="0" algn="r">
              <a:buNone/>
            </a:pPr>
            <a:r>
              <a:rPr lang="en-US" sz="900" dirty="0">
                <a:solidFill>
                  <a:srgbClr val="7893A9"/>
                </a:solidFill>
                <a:latin typeface="Times New Roman" pitchFamily="34" charset="0"/>
                <a:ea typeface="Times New Roman" pitchFamily="34" charset="-122"/>
                <a:cs typeface="Times New Roman" pitchFamily="34" charset="-120"/>
              </a:rPr>
              <a:t>Emergency Behaviour Classification from Video using ML</a:t>
            </a:r>
            <a:endParaRPr lang="en-US" sz="900" dirty="0"/>
          </a:p>
        </p:txBody>
      </p:sp>
      <p:pic>
        <p:nvPicPr>
          <p:cNvPr id="52" name="Picture 51">
            <a:extLst>
              <a:ext uri="{FF2B5EF4-FFF2-40B4-BE49-F238E27FC236}">
                <a16:creationId xmlns:a16="http://schemas.microsoft.com/office/drawing/2014/main" id="{AA4BA9BB-A530-7086-1925-ADD6D82A8FEB}"/>
              </a:ext>
            </a:extLst>
          </p:cNvPr>
          <p:cNvPicPr>
            <a:picLocks noChangeAspect="1"/>
          </p:cNvPicPr>
          <p:nvPr/>
        </p:nvPicPr>
        <p:blipFill>
          <a:blip r:embed="rId3"/>
          <a:stretch>
            <a:fillRect/>
          </a:stretch>
        </p:blipFill>
        <p:spPr>
          <a:xfrm>
            <a:off x="8556566" y="2463516"/>
            <a:ext cx="1213932" cy="209896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101D"/>
        </a:solidFill>
        <a:effectLst/>
      </p:bgPr>
    </p:bg>
    <p:spTree>
      <p:nvGrpSpPr>
        <p:cNvPr id="1" name=""/>
        <p:cNvGrpSpPr/>
        <p:nvPr/>
      </p:nvGrpSpPr>
      <p:grpSpPr>
        <a:xfrm>
          <a:off x="0" y="0"/>
          <a:ext cx="0" cy="0"/>
          <a:chOff x="0" y="0"/>
          <a:chExt cx="0" cy="0"/>
        </a:xfrm>
      </p:grpSpPr>
      <p:sp>
        <p:nvSpPr>
          <p:cNvPr id="2" name="Text 0"/>
          <p:cNvSpPr/>
          <p:nvPr/>
        </p:nvSpPr>
        <p:spPr>
          <a:xfrm>
            <a:off x="438912" y="301752"/>
            <a:ext cx="475488" cy="201168"/>
          </a:xfrm>
          <a:prstGeom prst="rect">
            <a:avLst/>
          </a:prstGeom>
          <a:noFill/>
          <a:ln/>
        </p:spPr>
        <p:txBody>
          <a:bodyPr wrap="square" lIns="0" tIns="0" rIns="0" bIns="0" rtlCol="0" anchor="ctr">
            <a:normAutofit/>
          </a:bodyPr>
          <a:lstStyle/>
          <a:p>
            <a:pPr marL="0" indent="0">
              <a:buNone/>
            </a:pPr>
            <a:r>
              <a:rPr lang="en-US" sz="1300" b="1" dirty="0">
                <a:solidFill>
                  <a:srgbClr val="2DEBFF"/>
                </a:solidFill>
                <a:latin typeface="Times New Roman" pitchFamily="34" charset="0"/>
                <a:ea typeface="Times New Roman" pitchFamily="34" charset="-122"/>
                <a:cs typeface="Times New Roman" pitchFamily="34" charset="-120"/>
              </a:rPr>
              <a:t>03</a:t>
            </a:r>
            <a:endParaRPr lang="en-US" sz="1300" dirty="0"/>
          </a:p>
        </p:txBody>
      </p:sp>
      <p:sp>
        <p:nvSpPr>
          <p:cNvPr id="3" name="Shape 1"/>
          <p:cNvSpPr/>
          <p:nvPr/>
        </p:nvSpPr>
        <p:spPr>
          <a:xfrm>
            <a:off x="1033272" y="411480"/>
            <a:ext cx="841248" cy="0"/>
          </a:xfrm>
          <a:prstGeom prst="line">
            <a:avLst/>
          </a:prstGeom>
          <a:noFill/>
          <a:ln w="13335">
            <a:solidFill>
              <a:srgbClr val="2DEBFF">
                <a:alpha val="96000"/>
              </a:srgbClr>
            </a:solidFill>
            <a:prstDash val="solid"/>
          </a:ln>
        </p:spPr>
      </p:sp>
      <p:sp>
        <p:nvSpPr>
          <p:cNvPr id="4" name="Text 2"/>
          <p:cNvSpPr/>
          <p:nvPr/>
        </p:nvSpPr>
        <p:spPr>
          <a:xfrm>
            <a:off x="2011680" y="283464"/>
            <a:ext cx="4389120" cy="219456"/>
          </a:xfrm>
          <a:prstGeom prst="rect">
            <a:avLst/>
          </a:prstGeom>
          <a:noFill/>
          <a:ln/>
        </p:spPr>
        <p:txBody>
          <a:bodyPr wrap="square" lIns="0" tIns="0" rIns="0" bIns="0" rtlCol="0" anchor="ctr">
            <a:normAutofit/>
          </a:bodyPr>
          <a:lstStyle/>
          <a:p>
            <a:pPr marL="0" indent="0">
              <a:buNone/>
            </a:pPr>
            <a:r>
              <a:rPr lang="en-US" sz="1080" b="1" dirty="0">
                <a:solidFill>
                  <a:srgbClr val="B5C7D8"/>
                </a:solidFill>
                <a:latin typeface="Times New Roman" pitchFamily="34" charset="0"/>
                <a:ea typeface="Times New Roman" pitchFamily="34" charset="-122"/>
                <a:cs typeface="Times New Roman" pitchFamily="34" charset="-120"/>
              </a:rPr>
              <a:t>APPROACH AND COMPONENTS</a:t>
            </a:r>
            <a:endParaRPr lang="en-US" sz="1080" dirty="0"/>
          </a:p>
        </p:txBody>
      </p:sp>
      <p:sp>
        <p:nvSpPr>
          <p:cNvPr id="5" name="Text 3"/>
          <p:cNvSpPr/>
          <p:nvPr/>
        </p:nvSpPr>
        <p:spPr>
          <a:xfrm>
            <a:off x="566928" y="731520"/>
            <a:ext cx="6583680" cy="566928"/>
          </a:xfrm>
          <a:prstGeom prst="rect">
            <a:avLst/>
          </a:prstGeom>
          <a:noFill/>
          <a:ln/>
        </p:spPr>
        <p:txBody>
          <a:bodyPr wrap="square" lIns="0" tIns="0" rIns="0" bIns="0" rtlCol="0" anchor="ctr">
            <a:normAutofit/>
          </a:bodyPr>
          <a:lstStyle/>
          <a:p>
            <a:pPr marL="0" indent="0">
              <a:buNone/>
            </a:pPr>
            <a:r>
              <a:rPr lang="en-US" sz="2850" b="1" dirty="0">
                <a:solidFill>
                  <a:srgbClr val="FFFFFF"/>
                </a:solidFill>
                <a:latin typeface="Times New Roman" pitchFamily="34" charset="0"/>
                <a:ea typeface="Times New Roman" pitchFamily="34" charset="-122"/>
                <a:cs typeface="Times New Roman" pitchFamily="34" charset="-120"/>
              </a:rPr>
              <a:t>Method Pipeline: From Video to Behaviour Label</a:t>
            </a:r>
            <a:endParaRPr lang="en-US" sz="2850" dirty="0"/>
          </a:p>
        </p:txBody>
      </p:sp>
      <p:sp>
        <p:nvSpPr>
          <p:cNvPr id="6" name="Text 4"/>
          <p:cNvSpPr/>
          <p:nvPr/>
        </p:nvSpPr>
        <p:spPr>
          <a:xfrm>
            <a:off x="594360" y="1550841"/>
            <a:ext cx="6492240" cy="292608"/>
          </a:xfrm>
          <a:prstGeom prst="rect">
            <a:avLst/>
          </a:prstGeom>
          <a:noFill/>
          <a:ln/>
        </p:spPr>
        <p:txBody>
          <a:bodyPr wrap="square" lIns="0" tIns="0" rIns="0" bIns="0" rtlCol="0" anchor="ctr">
            <a:noAutofit/>
          </a:bodyPr>
          <a:lstStyle/>
          <a:p>
            <a:pPr marL="0" indent="0">
              <a:buNone/>
            </a:pPr>
            <a:r>
              <a:rPr lang="en-US" dirty="0">
                <a:solidFill>
                  <a:srgbClr val="B5C7D8"/>
                </a:solidFill>
                <a:latin typeface="Times New Roman" pitchFamily="34" charset="0"/>
                <a:ea typeface="Times New Roman" pitchFamily="34" charset="-122"/>
                <a:cs typeface="Times New Roman" pitchFamily="34" charset="-120"/>
              </a:rPr>
              <a:t>The system turns a video into pose landmarks, extracts movement features, then classifies the behaviour using supervised ML.</a:t>
            </a:r>
            <a:endParaRPr lang="en-US" dirty="0"/>
          </a:p>
        </p:txBody>
      </p:sp>
      <p:pic>
        <p:nvPicPr>
          <p:cNvPr id="7" name="Image 0" descr="/mnt/data/pipeline_right_crop.png"/>
          <p:cNvPicPr>
            <a:picLocks noChangeAspect="1"/>
          </p:cNvPicPr>
          <p:nvPr/>
        </p:nvPicPr>
        <p:blipFill>
          <a:blip r:embed="rId3"/>
          <a:srcRect l="15000" t="20000" r="-14343" b="36000"/>
          <a:stretch/>
        </p:blipFill>
        <p:spPr>
          <a:xfrm>
            <a:off x="7955280" y="960120"/>
            <a:ext cx="2743200" cy="1152144"/>
          </a:xfrm>
          <a:prstGeom prst="rect">
            <a:avLst/>
          </a:prstGeom>
        </p:spPr>
      </p:pic>
      <p:sp>
        <p:nvSpPr>
          <p:cNvPr id="8" name="Shape 5"/>
          <p:cNvSpPr/>
          <p:nvPr/>
        </p:nvSpPr>
        <p:spPr>
          <a:xfrm>
            <a:off x="7955280" y="960120"/>
            <a:ext cx="2743200" cy="1152144"/>
          </a:xfrm>
          <a:prstGeom prst="rect">
            <a:avLst/>
          </a:prstGeom>
          <a:solidFill>
            <a:srgbClr val="06101D">
              <a:alpha val="0"/>
            </a:srgbClr>
          </a:solidFill>
          <a:ln w="10160">
            <a:solidFill>
              <a:srgbClr val="2DEBFF">
                <a:alpha val="70000"/>
              </a:srgbClr>
            </a:solidFill>
            <a:prstDash val="solid"/>
          </a:ln>
        </p:spPr>
      </p:sp>
      <p:sp>
        <p:nvSpPr>
          <p:cNvPr id="9" name="Shape 6"/>
          <p:cNvSpPr/>
          <p:nvPr/>
        </p:nvSpPr>
        <p:spPr>
          <a:xfrm>
            <a:off x="1819656" y="2569464"/>
            <a:ext cx="301752" cy="0"/>
          </a:xfrm>
          <a:prstGeom prst="line">
            <a:avLst/>
          </a:prstGeom>
          <a:noFill/>
          <a:ln w="17780">
            <a:solidFill>
              <a:srgbClr val="2DEBFF"/>
            </a:solidFill>
            <a:prstDash val="solid"/>
            <a:tailEnd type="triangle"/>
          </a:ln>
        </p:spPr>
      </p:sp>
      <p:sp>
        <p:nvSpPr>
          <p:cNvPr id="10" name="Shape 7"/>
          <p:cNvSpPr/>
          <p:nvPr/>
        </p:nvSpPr>
        <p:spPr>
          <a:xfrm>
            <a:off x="3355848" y="2569464"/>
            <a:ext cx="301752" cy="0"/>
          </a:xfrm>
          <a:prstGeom prst="line">
            <a:avLst/>
          </a:prstGeom>
          <a:noFill/>
          <a:ln w="17780">
            <a:solidFill>
              <a:srgbClr val="2DEBFF"/>
            </a:solidFill>
            <a:prstDash val="solid"/>
            <a:tailEnd type="triangle"/>
          </a:ln>
        </p:spPr>
      </p:sp>
      <p:sp>
        <p:nvSpPr>
          <p:cNvPr id="11" name="Shape 8"/>
          <p:cNvSpPr/>
          <p:nvPr/>
        </p:nvSpPr>
        <p:spPr>
          <a:xfrm>
            <a:off x="4892040" y="2569464"/>
            <a:ext cx="301752" cy="0"/>
          </a:xfrm>
          <a:prstGeom prst="line">
            <a:avLst/>
          </a:prstGeom>
          <a:noFill/>
          <a:ln w="17780">
            <a:solidFill>
              <a:srgbClr val="2DEBFF"/>
            </a:solidFill>
            <a:prstDash val="solid"/>
            <a:tailEnd type="triangle"/>
          </a:ln>
        </p:spPr>
      </p:sp>
      <p:sp>
        <p:nvSpPr>
          <p:cNvPr id="12" name="Shape 9"/>
          <p:cNvSpPr/>
          <p:nvPr/>
        </p:nvSpPr>
        <p:spPr>
          <a:xfrm>
            <a:off x="6428232" y="2569464"/>
            <a:ext cx="301752" cy="0"/>
          </a:xfrm>
          <a:prstGeom prst="line">
            <a:avLst/>
          </a:prstGeom>
          <a:noFill/>
          <a:ln w="17780">
            <a:solidFill>
              <a:srgbClr val="2DEBFF"/>
            </a:solidFill>
            <a:prstDash val="solid"/>
            <a:tailEnd type="triangle"/>
          </a:ln>
        </p:spPr>
      </p:sp>
      <p:sp>
        <p:nvSpPr>
          <p:cNvPr id="13" name="Shape 10"/>
          <p:cNvSpPr/>
          <p:nvPr/>
        </p:nvSpPr>
        <p:spPr>
          <a:xfrm>
            <a:off x="640080" y="2267712"/>
            <a:ext cx="1115568" cy="594360"/>
          </a:xfrm>
          <a:prstGeom prst="roundRect">
            <a:avLst>
              <a:gd name="adj" fmla="val 9231"/>
            </a:avLst>
          </a:prstGeom>
          <a:solidFill>
            <a:srgbClr val="0B2036">
              <a:alpha val="98000"/>
            </a:srgbClr>
          </a:solidFill>
          <a:ln w="12700">
            <a:solidFill>
              <a:srgbClr val="2DEBFF">
                <a:alpha val="96000"/>
              </a:srgbClr>
            </a:solidFill>
            <a:prstDash val="solid"/>
          </a:ln>
        </p:spPr>
      </p:sp>
      <p:sp>
        <p:nvSpPr>
          <p:cNvPr id="14" name="Text 11"/>
          <p:cNvSpPr/>
          <p:nvPr/>
        </p:nvSpPr>
        <p:spPr>
          <a:xfrm>
            <a:off x="685800" y="2340864"/>
            <a:ext cx="228600" cy="109728"/>
          </a:xfrm>
          <a:prstGeom prst="rect">
            <a:avLst/>
          </a:prstGeom>
          <a:noFill/>
          <a:ln/>
        </p:spPr>
        <p:txBody>
          <a:bodyPr wrap="square" lIns="0" tIns="0" rIns="0" bIns="0" rtlCol="0" anchor="ctr"/>
          <a:lstStyle/>
          <a:p>
            <a:pPr marL="0" indent="0">
              <a:buNone/>
            </a:pPr>
            <a:r>
              <a:rPr lang="en-US" sz="1100" b="1" dirty="0">
                <a:solidFill>
                  <a:srgbClr val="2DEBFF"/>
                </a:solidFill>
                <a:latin typeface="Times New Roman" pitchFamily="34" charset="0"/>
                <a:ea typeface="Times New Roman" pitchFamily="34" charset="-122"/>
                <a:cs typeface="Times New Roman" pitchFamily="34" charset="-120"/>
              </a:rPr>
              <a:t>01</a:t>
            </a:r>
            <a:endParaRPr lang="en-US" sz="1100" dirty="0"/>
          </a:p>
        </p:txBody>
      </p:sp>
      <p:sp>
        <p:nvSpPr>
          <p:cNvPr id="15" name="Text 12"/>
          <p:cNvSpPr/>
          <p:nvPr/>
        </p:nvSpPr>
        <p:spPr>
          <a:xfrm>
            <a:off x="841248" y="2359152"/>
            <a:ext cx="632989" cy="91440"/>
          </a:xfrm>
          <a:prstGeom prst="rect">
            <a:avLst/>
          </a:prstGeom>
          <a:noFill/>
          <a:ln/>
        </p:spPr>
        <p:txBody>
          <a:bodyPr wrap="square" lIns="0" tIns="0" rIns="0" bIns="0" rtlCol="0" anchor="ctr">
            <a:noAutofit/>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Read video</a:t>
            </a:r>
            <a:endParaRPr lang="en-US" sz="1200" dirty="0"/>
          </a:p>
        </p:txBody>
      </p:sp>
      <p:sp>
        <p:nvSpPr>
          <p:cNvPr id="16" name="Text 13"/>
          <p:cNvSpPr/>
          <p:nvPr/>
        </p:nvSpPr>
        <p:spPr>
          <a:xfrm>
            <a:off x="768096" y="2651760"/>
            <a:ext cx="859536" cy="91440"/>
          </a:xfrm>
          <a:prstGeom prst="rect">
            <a:avLst/>
          </a:prstGeom>
          <a:noFill/>
          <a:ln/>
        </p:spPr>
        <p:txBody>
          <a:bodyPr wrap="square" lIns="0" tIns="0" rIns="0" bIns="0" rtlCol="0" anchor="ctr">
            <a:noAutofit/>
          </a:bodyPr>
          <a:lstStyle/>
          <a:p>
            <a:pPr marL="0" indent="0" algn="ctr">
              <a:buNone/>
            </a:pPr>
            <a:r>
              <a:rPr lang="en-US" sz="1050" dirty="0">
                <a:solidFill>
                  <a:srgbClr val="B5C7D8"/>
                </a:solidFill>
                <a:latin typeface="Times New Roman" pitchFamily="34" charset="0"/>
                <a:ea typeface="Times New Roman" pitchFamily="34" charset="-122"/>
                <a:cs typeface="Times New Roman" pitchFamily="34" charset="-120"/>
              </a:rPr>
              <a:t>OpenCV frames</a:t>
            </a:r>
            <a:endParaRPr lang="en-US" sz="1050" dirty="0"/>
          </a:p>
        </p:txBody>
      </p:sp>
      <p:sp>
        <p:nvSpPr>
          <p:cNvPr id="17" name="Shape 14"/>
          <p:cNvSpPr/>
          <p:nvPr/>
        </p:nvSpPr>
        <p:spPr>
          <a:xfrm>
            <a:off x="2176272" y="2267712"/>
            <a:ext cx="1115568" cy="594360"/>
          </a:xfrm>
          <a:prstGeom prst="roundRect">
            <a:avLst>
              <a:gd name="adj" fmla="val 9231"/>
            </a:avLst>
          </a:prstGeom>
          <a:solidFill>
            <a:srgbClr val="0B2036">
              <a:alpha val="98000"/>
            </a:srgbClr>
          </a:solidFill>
          <a:ln w="12700">
            <a:solidFill>
              <a:srgbClr val="F3C45B">
                <a:alpha val="96000"/>
              </a:srgbClr>
            </a:solidFill>
            <a:prstDash val="solid"/>
          </a:ln>
        </p:spPr>
      </p:sp>
      <p:sp>
        <p:nvSpPr>
          <p:cNvPr id="18" name="Text 15"/>
          <p:cNvSpPr/>
          <p:nvPr/>
        </p:nvSpPr>
        <p:spPr>
          <a:xfrm>
            <a:off x="2221992" y="2340864"/>
            <a:ext cx="228600" cy="109728"/>
          </a:xfrm>
          <a:prstGeom prst="rect">
            <a:avLst/>
          </a:prstGeom>
          <a:noFill/>
          <a:ln/>
        </p:spPr>
        <p:txBody>
          <a:bodyPr wrap="square" lIns="0" tIns="0" rIns="0" bIns="0" rtlCol="0" anchor="ctr"/>
          <a:lstStyle/>
          <a:p>
            <a:pPr marL="0" indent="0">
              <a:buNone/>
            </a:pPr>
            <a:r>
              <a:rPr lang="en-US" sz="1100" b="1" dirty="0">
                <a:solidFill>
                  <a:srgbClr val="F3C45B"/>
                </a:solidFill>
                <a:latin typeface="Times New Roman" pitchFamily="34" charset="0"/>
                <a:ea typeface="Times New Roman" pitchFamily="34" charset="-122"/>
                <a:cs typeface="Times New Roman" pitchFamily="34" charset="-120"/>
              </a:rPr>
              <a:t>02</a:t>
            </a:r>
            <a:endParaRPr lang="en-US" sz="1100" dirty="0"/>
          </a:p>
        </p:txBody>
      </p:sp>
      <p:sp>
        <p:nvSpPr>
          <p:cNvPr id="19" name="Text 16"/>
          <p:cNvSpPr/>
          <p:nvPr/>
        </p:nvSpPr>
        <p:spPr>
          <a:xfrm>
            <a:off x="2496312" y="2359152"/>
            <a:ext cx="713232" cy="164592"/>
          </a:xfrm>
          <a:prstGeom prst="rect">
            <a:avLst/>
          </a:prstGeom>
          <a:noFill/>
          <a:ln/>
        </p:spPr>
        <p:txBody>
          <a:bodyPr wrap="square" lIns="0" tIns="0" rIns="0" bIns="0" rtlCol="0" anchor="ctr">
            <a:noAutofit/>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Estimate pose</a:t>
            </a:r>
            <a:endParaRPr lang="en-US" sz="1200" dirty="0"/>
          </a:p>
        </p:txBody>
      </p:sp>
      <p:sp>
        <p:nvSpPr>
          <p:cNvPr id="20" name="Text 17"/>
          <p:cNvSpPr/>
          <p:nvPr/>
        </p:nvSpPr>
        <p:spPr>
          <a:xfrm>
            <a:off x="2304288" y="2651760"/>
            <a:ext cx="859536" cy="91440"/>
          </a:xfrm>
          <a:prstGeom prst="rect">
            <a:avLst/>
          </a:prstGeom>
          <a:noFill/>
          <a:ln/>
        </p:spPr>
        <p:txBody>
          <a:bodyPr wrap="square" lIns="0" tIns="0" rIns="0" bIns="0" rtlCol="0" anchor="ctr">
            <a:noAutofit/>
          </a:bodyPr>
          <a:lstStyle/>
          <a:p>
            <a:pPr marL="0" indent="0" algn="ctr">
              <a:buNone/>
            </a:pPr>
            <a:r>
              <a:rPr lang="en-US" sz="1050" dirty="0">
                <a:solidFill>
                  <a:srgbClr val="B5C7D8"/>
                </a:solidFill>
                <a:latin typeface="Times New Roman" pitchFamily="34" charset="0"/>
                <a:ea typeface="Times New Roman" pitchFamily="34" charset="-122"/>
                <a:cs typeface="Times New Roman" pitchFamily="34" charset="-120"/>
              </a:rPr>
              <a:t>MediaPipe</a:t>
            </a:r>
            <a:endParaRPr lang="en-US" sz="1050" dirty="0"/>
          </a:p>
        </p:txBody>
      </p:sp>
      <p:sp>
        <p:nvSpPr>
          <p:cNvPr id="21" name="Shape 18"/>
          <p:cNvSpPr/>
          <p:nvPr/>
        </p:nvSpPr>
        <p:spPr>
          <a:xfrm>
            <a:off x="3712464" y="2267712"/>
            <a:ext cx="1115568" cy="594360"/>
          </a:xfrm>
          <a:prstGeom prst="roundRect">
            <a:avLst>
              <a:gd name="adj" fmla="val 9231"/>
            </a:avLst>
          </a:prstGeom>
          <a:solidFill>
            <a:srgbClr val="0B2036">
              <a:alpha val="98000"/>
            </a:srgbClr>
          </a:solidFill>
          <a:ln w="12700">
            <a:solidFill>
              <a:srgbClr val="2DEBFF">
                <a:alpha val="96000"/>
              </a:srgbClr>
            </a:solidFill>
            <a:prstDash val="solid"/>
          </a:ln>
        </p:spPr>
      </p:sp>
      <p:sp>
        <p:nvSpPr>
          <p:cNvPr id="22" name="Text 19"/>
          <p:cNvSpPr/>
          <p:nvPr/>
        </p:nvSpPr>
        <p:spPr>
          <a:xfrm>
            <a:off x="3758184" y="2340864"/>
            <a:ext cx="228600" cy="109728"/>
          </a:xfrm>
          <a:prstGeom prst="rect">
            <a:avLst/>
          </a:prstGeom>
          <a:noFill/>
          <a:ln/>
        </p:spPr>
        <p:txBody>
          <a:bodyPr wrap="square" lIns="0" tIns="0" rIns="0" bIns="0" rtlCol="0" anchor="ctr"/>
          <a:lstStyle/>
          <a:p>
            <a:pPr marL="0" indent="0">
              <a:buNone/>
            </a:pPr>
            <a:r>
              <a:rPr lang="en-US" sz="1100" b="1" dirty="0">
                <a:solidFill>
                  <a:srgbClr val="2DEBFF"/>
                </a:solidFill>
                <a:latin typeface="Times New Roman" pitchFamily="34" charset="0"/>
                <a:ea typeface="Times New Roman" pitchFamily="34" charset="-122"/>
                <a:cs typeface="Times New Roman" pitchFamily="34" charset="-120"/>
              </a:rPr>
              <a:t>03</a:t>
            </a:r>
            <a:endParaRPr lang="en-US" sz="1100" dirty="0"/>
          </a:p>
        </p:txBody>
      </p:sp>
      <p:sp>
        <p:nvSpPr>
          <p:cNvPr id="23" name="Text 20"/>
          <p:cNvSpPr/>
          <p:nvPr/>
        </p:nvSpPr>
        <p:spPr>
          <a:xfrm>
            <a:off x="4032504" y="2359152"/>
            <a:ext cx="713232" cy="164592"/>
          </a:xfrm>
          <a:prstGeom prst="rect">
            <a:avLst/>
          </a:prstGeom>
          <a:noFill/>
          <a:ln/>
        </p:spPr>
        <p:txBody>
          <a:bodyPr wrap="square" lIns="0" tIns="0" rIns="0" bIns="0" rtlCol="0" anchor="ctr">
            <a:noAutofit/>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Unify joints</a:t>
            </a:r>
            <a:endParaRPr lang="en-US" sz="1200" dirty="0"/>
          </a:p>
        </p:txBody>
      </p:sp>
      <p:sp>
        <p:nvSpPr>
          <p:cNvPr id="24" name="Text 21"/>
          <p:cNvSpPr/>
          <p:nvPr/>
        </p:nvSpPr>
        <p:spPr>
          <a:xfrm>
            <a:off x="3840480" y="2651760"/>
            <a:ext cx="859536" cy="91440"/>
          </a:xfrm>
          <a:prstGeom prst="rect">
            <a:avLst/>
          </a:prstGeom>
          <a:noFill/>
          <a:ln/>
        </p:spPr>
        <p:txBody>
          <a:bodyPr wrap="square" lIns="0" tIns="0" rIns="0" bIns="0" rtlCol="0" anchor="ctr">
            <a:noAutofit/>
          </a:bodyPr>
          <a:lstStyle/>
          <a:p>
            <a:pPr marL="0" indent="0" algn="ctr">
              <a:buNone/>
            </a:pPr>
            <a:r>
              <a:rPr lang="en-US" sz="1050" dirty="0">
                <a:solidFill>
                  <a:srgbClr val="B5C7D8"/>
                </a:solidFill>
                <a:latin typeface="Times New Roman" pitchFamily="34" charset="0"/>
                <a:ea typeface="Times New Roman" pitchFamily="34" charset="-122"/>
                <a:cs typeface="Times New Roman" pitchFamily="34" charset="-120"/>
              </a:rPr>
              <a:t>12-joint format</a:t>
            </a:r>
            <a:endParaRPr lang="en-US" sz="1050" dirty="0"/>
          </a:p>
        </p:txBody>
      </p:sp>
      <p:sp>
        <p:nvSpPr>
          <p:cNvPr id="25" name="Shape 22"/>
          <p:cNvSpPr/>
          <p:nvPr/>
        </p:nvSpPr>
        <p:spPr>
          <a:xfrm>
            <a:off x="5248656" y="2267712"/>
            <a:ext cx="1115568" cy="594360"/>
          </a:xfrm>
          <a:prstGeom prst="roundRect">
            <a:avLst>
              <a:gd name="adj" fmla="val 9231"/>
            </a:avLst>
          </a:prstGeom>
          <a:solidFill>
            <a:srgbClr val="0B2036">
              <a:alpha val="98000"/>
            </a:srgbClr>
          </a:solidFill>
          <a:ln w="12700">
            <a:solidFill>
              <a:srgbClr val="F3C45B">
                <a:alpha val="96000"/>
              </a:srgbClr>
            </a:solidFill>
            <a:prstDash val="solid"/>
          </a:ln>
        </p:spPr>
      </p:sp>
      <p:sp>
        <p:nvSpPr>
          <p:cNvPr id="26" name="Text 23"/>
          <p:cNvSpPr/>
          <p:nvPr/>
        </p:nvSpPr>
        <p:spPr>
          <a:xfrm>
            <a:off x="5294376" y="2340864"/>
            <a:ext cx="228600" cy="109728"/>
          </a:xfrm>
          <a:prstGeom prst="rect">
            <a:avLst/>
          </a:prstGeom>
          <a:noFill/>
          <a:ln/>
        </p:spPr>
        <p:txBody>
          <a:bodyPr wrap="square" lIns="0" tIns="0" rIns="0" bIns="0" rtlCol="0" anchor="ctr"/>
          <a:lstStyle/>
          <a:p>
            <a:pPr marL="0" indent="0">
              <a:buNone/>
            </a:pPr>
            <a:r>
              <a:rPr lang="en-US" sz="1100" b="1" dirty="0">
                <a:solidFill>
                  <a:srgbClr val="F3C45B"/>
                </a:solidFill>
                <a:latin typeface="Times New Roman" pitchFamily="34" charset="0"/>
                <a:ea typeface="Times New Roman" pitchFamily="34" charset="-122"/>
                <a:cs typeface="Times New Roman" pitchFamily="34" charset="-120"/>
              </a:rPr>
              <a:t>04</a:t>
            </a:r>
            <a:endParaRPr lang="en-US" sz="1100" dirty="0"/>
          </a:p>
        </p:txBody>
      </p:sp>
      <p:sp>
        <p:nvSpPr>
          <p:cNvPr id="27" name="Text 24"/>
          <p:cNvSpPr/>
          <p:nvPr/>
        </p:nvSpPr>
        <p:spPr>
          <a:xfrm>
            <a:off x="5568696" y="2359152"/>
            <a:ext cx="713232" cy="164592"/>
          </a:xfrm>
          <a:prstGeom prst="rect">
            <a:avLst/>
          </a:prstGeom>
          <a:noFill/>
          <a:ln/>
        </p:spPr>
        <p:txBody>
          <a:bodyPr wrap="square" lIns="0" tIns="0" rIns="0" bIns="0" rtlCol="0" anchor="ctr">
            <a:noAutofit/>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Extract features</a:t>
            </a:r>
            <a:endParaRPr lang="en-US" sz="1200" dirty="0"/>
          </a:p>
        </p:txBody>
      </p:sp>
      <p:sp>
        <p:nvSpPr>
          <p:cNvPr id="28" name="Text 25"/>
          <p:cNvSpPr/>
          <p:nvPr/>
        </p:nvSpPr>
        <p:spPr>
          <a:xfrm>
            <a:off x="5376672" y="2651760"/>
            <a:ext cx="859536" cy="91440"/>
          </a:xfrm>
          <a:prstGeom prst="rect">
            <a:avLst/>
          </a:prstGeom>
          <a:noFill/>
          <a:ln/>
        </p:spPr>
        <p:txBody>
          <a:bodyPr wrap="square" lIns="0" tIns="0" rIns="0" bIns="0" rtlCol="0" anchor="ctr">
            <a:noAutofit/>
          </a:bodyPr>
          <a:lstStyle/>
          <a:p>
            <a:pPr marL="0" indent="0" algn="ctr">
              <a:buNone/>
            </a:pPr>
            <a:r>
              <a:rPr lang="en-US" sz="1050" dirty="0">
                <a:solidFill>
                  <a:srgbClr val="B5C7D8"/>
                </a:solidFill>
                <a:latin typeface="Times New Roman" pitchFamily="34" charset="0"/>
                <a:ea typeface="Times New Roman" pitchFamily="34" charset="-122"/>
                <a:cs typeface="Times New Roman" pitchFamily="34" charset="-120"/>
              </a:rPr>
              <a:t>angles/speeds</a:t>
            </a:r>
            <a:endParaRPr lang="en-US" sz="1050" dirty="0"/>
          </a:p>
        </p:txBody>
      </p:sp>
      <p:sp>
        <p:nvSpPr>
          <p:cNvPr id="29" name="Shape 26"/>
          <p:cNvSpPr/>
          <p:nvPr/>
        </p:nvSpPr>
        <p:spPr>
          <a:xfrm>
            <a:off x="6784848" y="2267712"/>
            <a:ext cx="1115568" cy="594360"/>
          </a:xfrm>
          <a:prstGeom prst="roundRect">
            <a:avLst>
              <a:gd name="adj" fmla="val 9231"/>
            </a:avLst>
          </a:prstGeom>
          <a:solidFill>
            <a:srgbClr val="0B2036">
              <a:alpha val="98000"/>
            </a:srgbClr>
          </a:solidFill>
          <a:ln w="12700">
            <a:solidFill>
              <a:srgbClr val="2DEBFF">
                <a:alpha val="96000"/>
              </a:srgbClr>
            </a:solidFill>
            <a:prstDash val="solid"/>
          </a:ln>
        </p:spPr>
      </p:sp>
      <p:sp>
        <p:nvSpPr>
          <p:cNvPr id="30" name="Text 27"/>
          <p:cNvSpPr/>
          <p:nvPr/>
        </p:nvSpPr>
        <p:spPr>
          <a:xfrm>
            <a:off x="6830568" y="2340864"/>
            <a:ext cx="228600" cy="109728"/>
          </a:xfrm>
          <a:prstGeom prst="rect">
            <a:avLst/>
          </a:prstGeom>
          <a:noFill/>
          <a:ln/>
        </p:spPr>
        <p:txBody>
          <a:bodyPr wrap="square" lIns="0" tIns="0" rIns="0" bIns="0" rtlCol="0" anchor="ctr"/>
          <a:lstStyle/>
          <a:p>
            <a:pPr marL="0" indent="0">
              <a:buNone/>
            </a:pPr>
            <a:r>
              <a:rPr lang="en-US" sz="1100" b="1" dirty="0">
                <a:solidFill>
                  <a:srgbClr val="2DEBFF"/>
                </a:solidFill>
                <a:latin typeface="Times New Roman" pitchFamily="34" charset="0"/>
                <a:ea typeface="Times New Roman" pitchFamily="34" charset="-122"/>
                <a:cs typeface="Times New Roman" pitchFamily="34" charset="-120"/>
              </a:rPr>
              <a:t>05</a:t>
            </a:r>
            <a:endParaRPr lang="en-US" sz="1100" dirty="0"/>
          </a:p>
        </p:txBody>
      </p:sp>
      <p:sp>
        <p:nvSpPr>
          <p:cNvPr id="31" name="Text 28"/>
          <p:cNvSpPr/>
          <p:nvPr/>
        </p:nvSpPr>
        <p:spPr>
          <a:xfrm>
            <a:off x="7104888" y="2359152"/>
            <a:ext cx="713232" cy="164592"/>
          </a:xfrm>
          <a:prstGeom prst="rect">
            <a:avLst/>
          </a:prstGeom>
          <a:noFill/>
          <a:ln/>
        </p:spPr>
        <p:txBody>
          <a:bodyPr wrap="square" lIns="0" tIns="0" rIns="0" bIns="0" rtlCol="0" anchor="ctr">
            <a:noAutofit/>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Classify</a:t>
            </a:r>
            <a:endParaRPr lang="en-US" sz="1200" dirty="0"/>
          </a:p>
        </p:txBody>
      </p:sp>
      <p:sp>
        <p:nvSpPr>
          <p:cNvPr id="32" name="Text 29"/>
          <p:cNvSpPr/>
          <p:nvPr/>
        </p:nvSpPr>
        <p:spPr>
          <a:xfrm>
            <a:off x="6912864" y="2651760"/>
            <a:ext cx="859536" cy="91440"/>
          </a:xfrm>
          <a:prstGeom prst="rect">
            <a:avLst/>
          </a:prstGeom>
          <a:noFill/>
          <a:ln/>
        </p:spPr>
        <p:txBody>
          <a:bodyPr wrap="square" lIns="0" tIns="0" rIns="0" bIns="0" rtlCol="0" anchor="ctr">
            <a:noAutofit/>
          </a:bodyPr>
          <a:lstStyle/>
          <a:p>
            <a:pPr marL="0" indent="0" algn="ctr">
              <a:buNone/>
            </a:pPr>
            <a:r>
              <a:rPr lang="en-US" sz="1050" dirty="0">
                <a:solidFill>
                  <a:srgbClr val="B5C7D8"/>
                </a:solidFill>
                <a:latin typeface="Times New Roman" pitchFamily="34" charset="0"/>
                <a:ea typeface="Times New Roman" pitchFamily="34" charset="-122"/>
                <a:cs typeface="Times New Roman" pitchFamily="34" charset="-120"/>
              </a:rPr>
              <a:t>ML model</a:t>
            </a:r>
            <a:endParaRPr lang="en-US" sz="1050" dirty="0"/>
          </a:p>
        </p:txBody>
      </p:sp>
      <p:sp>
        <p:nvSpPr>
          <p:cNvPr id="33" name="Shape 30"/>
          <p:cNvSpPr/>
          <p:nvPr/>
        </p:nvSpPr>
        <p:spPr>
          <a:xfrm>
            <a:off x="640080" y="3383280"/>
            <a:ext cx="3840480" cy="1600200"/>
          </a:xfrm>
          <a:prstGeom prst="roundRect">
            <a:avLst>
              <a:gd name="adj" fmla="val 4571"/>
            </a:avLst>
          </a:prstGeom>
          <a:solidFill>
            <a:srgbClr val="0B2036">
              <a:alpha val="97000"/>
            </a:srgbClr>
          </a:solidFill>
          <a:ln w="9525">
            <a:solidFill>
              <a:srgbClr val="1F6E96">
                <a:alpha val="72000"/>
              </a:srgbClr>
            </a:solidFill>
            <a:prstDash val="solid"/>
          </a:ln>
        </p:spPr>
      </p:sp>
      <p:sp>
        <p:nvSpPr>
          <p:cNvPr id="34" name="Text 31"/>
          <p:cNvSpPr/>
          <p:nvPr/>
        </p:nvSpPr>
        <p:spPr>
          <a:xfrm>
            <a:off x="896112" y="3602736"/>
            <a:ext cx="1554480" cy="155448"/>
          </a:xfrm>
          <a:prstGeom prst="rect">
            <a:avLst/>
          </a:prstGeom>
          <a:noFill/>
          <a:ln/>
        </p:spPr>
        <p:txBody>
          <a:bodyPr wrap="square" lIns="0" tIns="0" rIns="0" bIns="0" rtlCol="0" anchor="ctr">
            <a:noAutofit/>
          </a:bodyPr>
          <a:lstStyle/>
          <a:p>
            <a:pPr marL="0" indent="0">
              <a:buNone/>
            </a:pPr>
            <a:r>
              <a:rPr lang="en-US" sz="1200" b="1" dirty="0">
                <a:solidFill>
                  <a:srgbClr val="2DEBFF"/>
                </a:solidFill>
                <a:latin typeface="Times New Roman" pitchFamily="34" charset="0"/>
                <a:ea typeface="Times New Roman" pitchFamily="34" charset="-122"/>
                <a:cs typeface="Times New Roman" pitchFamily="34" charset="-120"/>
              </a:rPr>
              <a:t>FEATURE ENGINEERING</a:t>
            </a:r>
            <a:endParaRPr lang="en-US" sz="1200" dirty="0"/>
          </a:p>
        </p:txBody>
      </p:sp>
      <p:sp>
        <p:nvSpPr>
          <p:cNvPr id="35" name="Text 32"/>
          <p:cNvSpPr/>
          <p:nvPr/>
        </p:nvSpPr>
        <p:spPr>
          <a:xfrm>
            <a:off x="896112" y="3886200"/>
            <a:ext cx="777240" cy="182880"/>
          </a:xfrm>
          <a:prstGeom prst="rect">
            <a:avLst/>
          </a:prstGeom>
          <a:noFill/>
          <a:ln/>
        </p:spPr>
        <p:txBody>
          <a:bodyPr wrap="square" lIns="0" tIns="0" rIns="0" bIns="0" rtlCol="0" anchor="ctr">
            <a:normAutofit/>
          </a:bodyPr>
          <a:lstStyle/>
          <a:p>
            <a:pPr marL="0" indent="0">
              <a:buNone/>
            </a:pPr>
            <a:r>
              <a:rPr lang="en-US" sz="1100" dirty="0">
                <a:solidFill>
                  <a:srgbClr val="F3C45B"/>
                </a:solidFill>
                <a:latin typeface="Times New Roman" pitchFamily="34" charset="0"/>
                <a:ea typeface="Times New Roman" pitchFamily="34" charset="-122"/>
                <a:cs typeface="Times New Roman" pitchFamily="34" charset="-120"/>
              </a:rPr>
              <a:t>Feature</a:t>
            </a:r>
            <a:endParaRPr lang="en-US" sz="1100" dirty="0"/>
          </a:p>
        </p:txBody>
      </p:sp>
      <p:sp>
        <p:nvSpPr>
          <p:cNvPr id="36" name="Text 33"/>
          <p:cNvSpPr/>
          <p:nvPr/>
        </p:nvSpPr>
        <p:spPr>
          <a:xfrm>
            <a:off x="1874520" y="3886200"/>
            <a:ext cx="1143000" cy="182880"/>
          </a:xfrm>
          <a:prstGeom prst="rect">
            <a:avLst/>
          </a:prstGeom>
          <a:noFill/>
          <a:ln/>
        </p:spPr>
        <p:txBody>
          <a:bodyPr wrap="square" lIns="0" tIns="0" rIns="0" bIns="0" rtlCol="0" anchor="ctr">
            <a:normAutofit/>
          </a:bodyPr>
          <a:lstStyle/>
          <a:p>
            <a:pPr marL="0" indent="0">
              <a:buNone/>
            </a:pPr>
            <a:r>
              <a:rPr lang="en-US" sz="1100" dirty="0">
                <a:solidFill>
                  <a:srgbClr val="F3C45B"/>
                </a:solidFill>
                <a:latin typeface="Times New Roman" pitchFamily="34" charset="0"/>
                <a:ea typeface="Times New Roman" pitchFamily="34" charset="-122"/>
                <a:cs typeface="Times New Roman" pitchFamily="34" charset="-120"/>
              </a:rPr>
              <a:t>Meaning</a:t>
            </a:r>
            <a:endParaRPr lang="en-US" sz="1100" dirty="0"/>
          </a:p>
        </p:txBody>
      </p:sp>
      <p:sp>
        <p:nvSpPr>
          <p:cNvPr id="37" name="Text 34"/>
          <p:cNvSpPr/>
          <p:nvPr/>
        </p:nvSpPr>
        <p:spPr>
          <a:xfrm>
            <a:off x="3310128" y="3886200"/>
            <a:ext cx="914400" cy="182880"/>
          </a:xfrm>
          <a:prstGeom prst="rect">
            <a:avLst/>
          </a:prstGeom>
          <a:noFill/>
          <a:ln/>
        </p:spPr>
        <p:txBody>
          <a:bodyPr wrap="square" lIns="0" tIns="0" rIns="0" bIns="0" rtlCol="0" anchor="ctr">
            <a:normAutofit/>
          </a:bodyPr>
          <a:lstStyle/>
          <a:p>
            <a:pPr marL="0" indent="0">
              <a:buNone/>
            </a:pPr>
            <a:r>
              <a:rPr lang="en-US" sz="1100" dirty="0">
                <a:solidFill>
                  <a:srgbClr val="F3C45B"/>
                </a:solidFill>
                <a:latin typeface="Times New Roman" pitchFamily="34" charset="0"/>
                <a:ea typeface="Times New Roman" pitchFamily="34" charset="-122"/>
                <a:cs typeface="Times New Roman" pitchFamily="34" charset="-120"/>
              </a:rPr>
              <a:t>Used for</a:t>
            </a:r>
            <a:endParaRPr lang="en-US" sz="1100" dirty="0"/>
          </a:p>
        </p:txBody>
      </p:sp>
      <p:sp>
        <p:nvSpPr>
          <p:cNvPr id="38" name="Text 35"/>
          <p:cNvSpPr/>
          <p:nvPr/>
        </p:nvSpPr>
        <p:spPr>
          <a:xfrm>
            <a:off x="896112" y="4160520"/>
            <a:ext cx="777240" cy="182880"/>
          </a:xfrm>
          <a:prstGeom prst="rect">
            <a:avLst/>
          </a:prstGeom>
          <a:noFill/>
          <a:ln/>
        </p:spPr>
        <p:txBody>
          <a:bodyPr wrap="square" lIns="0" tIns="0" rIns="0" bIns="0" rtlCol="0" anchor="ctr">
            <a:normAutofit/>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Body angle</a:t>
            </a:r>
            <a:endParaRPr lang="en-US" sz="1100" dirty="0"/>
          </a:p>
        </p:txBody>
      </p:sp>
      <p:sp>
        <p:nvSpPr>
          <p:cNvPr id="39" name="Text 36"/>
          <p:cNvSpPr/>
          <p:nvPr/>
        </p:nvSpPr>
        <p:spPr>
          <a:xfrm>
            <a:off x="1874520" y="4160520"/>
            <a:ext cx="1143000" cy="182880"/>
          </a:xfrm>
          <a:prstGeom prst="rect">
            <a:avLst/>
          </a:prstGeom>
          <a:noFill/>
          <a:ln/>
        </p:spPr>
        <p:txBody>
          <a:bodyPr wrap="square" lIns="0" tIns="0" rIns="0" bIns="0" rtlCol="0" anchor="ctr">
            <a:normAutofit/>
          </a:bodyPr>
          <a:lstStyle/>
          <a:p>
            <a:pPr marL="0" indent="0">
              <a:buNone/>
            </a:pPr>
            <a:r>
              <a:rPr lang="en-US" sz="1100" dirty="0">
                <a:solidFill>
                  <a:srgbClr val="B5C7D8"/>
                </a:solidFill>
                <a:latin typeface="Times New Roman" pitchFamily="34" charset="0"/>
                <a:ea typeface="Times New Roman" pitchFamily="34" charset="-122"/>
                <a:cs typeface="Times New Roman" pitchFamily="34" charset="-120"/>
              </a:rPr>
              <a:t>torso lean / rotation</a:t>
            </a:r>
            <a:endParaRPr lang="en-US" sz="1100" dirty="0"/>
          </a:p>
        </p:txBody>
      </p:sp>
      <p:sp>
        <p:nvSpPr>
          <p:cNvPr id="40" name="Text 37"/>
          <p:cNvSpPr/>
          <p:nvPr/>
        </p:nvSpPr>
        <p:spPr>
          <a:xfrm>
            <a:off x="3310128" y="4160520"/>
            <a:ext cx="914400" cy="182880"/>
          </a:xfrm>
          <a:prstGeom prst="rect">
            <a:avLst/>
          </a:prstGeom>
          <a:noFill/>
          <a:ln/>
        </p:spPr>
        <p:txBody>
          <a:bodyPr wrap="square" lIns="0" tIns="0" rIns="0" bIns="0" rtlCol="0" anchor="ctr">
            <a:normAutofit/>
          </a:bodyPr>
          <a:lstStyle/>
          <a:p>
            <a:pPr marL="0" indent="0">
              <a:buNone/>
            </a:pPr>
            <a:r>
              <a:rPr lang="en-US" sz="1100" dirty="0">
                <a:solidFill>
                  <a:srgbClr val="61E6A3"/>
                </a:solidFill>
                <a:latin typeface="Times New Roman" pitchFamily="34" charset="0"/>
                <a:ea typeface="Times New Roman" pitchFamily="34" charset="-122"/>
                <a:cs typeface="Times New Roman" pitchFamily="34" charset="-120"/>
              </a:rPr>
              <a:t>fall, stagger</a:t>
            </a:r>
            <a:endParaRPr lang="en-US" sz="1100" dirty="0"/>
          </a:p>
        </p:txBody>
      </p:sp>
      <p:sp>
        <p:nvSpPr>
          <p:cNvPr id="41" name="Text 38"/>
          <p:cNvSpPr/>
          <p:nvPr/>
        </p:nvSpPr>
        <p:spPr>
          <a:xfrm>
            <a:off x="896112" y="4407408"/>
            <a:ext cx="777240" cy="182880"/>
          </a:xfrm>
          <a:prstGeom prst="rect">
            <a:avLst/>
          </a:prstGeom>
          <a:noFill/>
          <a:ln/>
        </p:spPr>
        <p:txBody>
          <a:bodyPr wrap="square" lIns="0" tIns="0" rIns="0" bIns="0" rtlCol="0" anchor="ctr">
            <a:normAutofit/>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Hip drop</a:t>
            </a:r>
            <a:endParaRPr lang="en-US" sz="1100" dirty="0"/>
          </a:p>
        </p:txBody>
      </p:sp>
      <p:sp>
        <p:nvSpPr>
          <p:cNvPr id="42" name="Text 39"/>
          <p:cNvSpPr/>
          <p:nvPr/>
        </p:nvSpPr>
        <p:spPr>
          <a:xfrm>
            <a:off x="1874520" y="4407408"/>
            <a:ext cx="1143000" cy="182880"/>
          </a:xfrm>
          <a:prstGeom prst="rect">
            <a:avLst/>
          </a:prstGeom>
          <a:noFill/>
          <a:ln/>
        </p:spPr>
        <p:txBody>
          <a:bodyPr wrap="square" lIns="0" tIns="0" rIns="0" bIns="0" rtlCol="0" anchor="ctr">
            <a:normAutofit/>
          </a:bodyPr>
          <a:lstStyle/>
          <a:p>
            <a:pPr marL="0" indent="0">
              <a:buNone/>
            </a:pPr>
            <a:r>
              <a:rPr lang="en-US" sz="1100" dirty="0">
                <a:solidFill>
                  <a:srgbClr val="B5C7D8"/>
                </a:solidFill>
                <a:latin typeface="Times New Roman" pitchFamily="34" charset="0"/>
                <a:ea typeface="Times New Roman" pitchFamily="34" charset="-122"/>
                <a:cs typeface="Times New Roman" pitchFamily="34" charset="-120"/>
              </a:rPr>
              <a:t>sudden vertical fall</a:t>
            </a:r>
            <a:endParaRPr lang="en-US" sz="1100" dirty="0"/>
          </a:p>
        </p:txBody>
      </p:sp>
      <p:sp>
        <p:nvSpPr>
          <p:cNvPr id="43" name="Text 40"/>
          <p:cNvSpPr/>
          <p:nvPr/>
        </p:nvSpPr>
        <p:spPr>
          <a:xfrm>
            <a:off x="3310128" y="4407408"/>
            <a:ext cx="914400" cy="182880"/>
          </a:xfrm>
          <a:prstGeom prst="rect">
            <a:avLst/>
          </a:prstGeom>
          <a:noFill/>
          <a:ln/>
        </p:spPr>
        <p:txBody>
          <a:bodyPr wrap="square" lIns="0" tIns="0" rIns="0" bIns="0" rtlCol="0" anchor="ctr">
            <a:normAutofit/>
          </a:bodyPr>
          <a:lstStyle/>
          <a:p>
            <a:pPr marL="0" indent="0">
              <a:buNone/>
            </a:pPr>
            <a:r>
              <a:rPr lang="en-US" sz="1100" dirty="0">
                <a:solidFill>
                  <a:srgbClr val="61E6A3"/>
                </a:solidFill>
                <a:latin typeface="Times New Roman" pitchFamily="34" charset="0"/>
                <a:ea typeface="Times New Roman" pitchFamily="34" charset="-122"/>
                <a:cs typeface="Times New Roman" pitchFamily="34" charset="-120"/>
              </a:rPr>
              <a:t>fall</a:t>
            </a:r>
            <a:endParaRPr lang="en-US" sz="1100" dirty="0"/>
          </a:p>
        </p:txBody>
      </p:sp>
      <p:sp>
        <p:nvSpPr>
          <p:cNvPr id="44" name="Text 41"/>
          <p:cNvSpPr/>
          <p:nvPr/>
        </p:nvSpPr>
        <p:spPr>
          <a:xfrm>
            <a:off x="896112" y="4654296"/>
            <a:ext cx="777240" cy="182880"/>
          </a:xfrm>
          <a:prstGeom prst="rect">
            <a:avLst/>
          </a:prstGeom>
          <a:noFill/>
          <a:ln/>
        </p:spPr>
        <p:txBody>
          <a:bodyPr wrap="square" lIns="0" tIns="0" rIns="0" bIns="0" rtlCol="0" anchor="ctr">
            <a:normAutofit/>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Wrist–chest</a:t>
            </a:r>
            <a:endParaRPr lang="en-US" sz="1100" dirty="0"/>
          </a:p>
        </p:txBody>
      </p:sp>
      <p:sp>
        <p:nvSpPr>
          <p:cNvPr id="45" name="Text 42"/>
          <p:cNvSpPr/>
          <p:nvPr/>
        </p:nvSpPr>
        <p:spPr>
          <a:xfrm>
            <a:off x="1874520" y="4654296"/>
            <a:ext cx="1143000" cy="182880"/>
          </a:xfrm>
          <a:prstGeom prst="rect">
            <a:avLst/>
          </a:prstGeom>
          <a:noFill/>
          <a:ln/>
        </p:spPr>
        <p:txBody>
          <a:bodyPr wrap="square" lIns="0" tIns="0" rIns="0" bIns="0" rtlCol="0" anchor="ctr">
            <a:normAutofit/>
          </a:bodyPr>
          <a:lstStyle/>
          <a:p>
            <a:pPr marL="0" indent="0">
              <a:buNone/>
            </a:pPr>
            <a:r>
              <a:rPr lang="en-US" sz="1100" dirty="0">
                <a:solidFill>
                  <a:srgbClr val="B5C7D8"/>
                </a:solidFill>
                <a:latin typeface="Times New Roman" pitchFamily="34" charset="0"/>
                <a:ea typeface="Times New Roman" pitchFamily="34" charset="-122"/>
                <a:cs typeface="Times New Roman" pitchFamily="34" charset="-120"/>
              </a:rPr>
              <a:t>hand near chest</a:t>
            </a:r>
            <a:endParaRPr lang="en-US" sz="1100" dirty="0"/>
          </a:p>
        </p:txBody>
      </p:sp>
      <p:sp>
        <p:nvSpPr>
          <p:cNvPr id="46" name="Text 43"/>
          <p:cNvSpPr/>
          <p:nvPr/>
        </p:nvSpPr>
        <p:spPr>
          <a:xfrm>
            <a:off x="3310128" y="4654296"/>
            <a:ext cx="914400" cy="182880"/>
          </a:xfrm>
          <a:prstGeom prst="rect">
            <a:avLst/>
          </a:prstGeom>
          <a:noFill/>
          <a:ln/>
        </p:spPr>
        <p:txBody>
          <a:bodyPr wrap="square" lIns="0" tIns="0" rIns="0" bIns="0" rtlCol="0" anchor="ctr">
            <a:normAutofit/>
          </a:bodyPr>
          <a:lstStyle/>
          <a:p>
            <a:pPr marL="0" indent="0">
              <a:buNone/>
            </a:pPr>
            <a:r>
              <a:rPr lang="en-US" sz="1100" dirty="0">
                <a:solidFill>
                  <a:srgbClr val="61E6A3"/>
                </a:solidFill>
                <a:latin typeface="Times New Roman" pitchFamily="34" charset="0"/>
                <a:ea typeface="Times New Roman" pitchFamily="34" charset="-122"/>
                <a:cs typeface="Times New Roman" pitchFamily="34" charset="-120"/>
              </a:rPr>
              <a:t>chest gesture</a:t>
            </a:r>
            <a:endParaRPr lang="en-US" sz="1100" dirty="0"/>
          </a:p>
        </p:txBody>
      </p:sp>
      <p:sp>
        <p:nvSpPr>
          <p:cNvPr id="47" name="Shape 44"/>
          <p:cNvSpPr/>
          <p:nvPr/>
        </p:nvSpPr>
        <p:spPr>
          <a:xfrm>
            <a:off x="4736592" y="3383280"/>
            <a:ext cx="2788920" cy="1600200"/>
          </a:xfrm>
          <a:prstGeom prst="roundRect">
            <a:avLst>
              <a:gd name="adj" fmla="val 4571"/>
            </a:avLst>
          </a:prstGeom>
          <a:solidFill>
            <a:srgbClr val="0B2036">
              <a:alpha val="97000"/>
            </a:srgbClr>
          </a:solidFill>
          <a:ln w="9525">
            <a:solidFill>
              <a:srgbClr val="1F6E96">
                <a:alpha val="72000"/>
              </a:srgbClr>
            </a:solidFill>
            <a:prstDash val="solid"/>
          </a:ln>
        </p:spPr>
      </p:sp>
      <p:sp>
        <p:nvSpPr>
          <p:cNvPr id="48" name="Text 45"/>
          <p:cNvSpPr/>
          <p:nvPr/>
        </p:nvSpPr>
        <p:spPr>
          <a:xfrm>
            <a:off x="5000788" y="3557015"/>
            <a:ext cx="1554480" cy="155448"/>
          </a:xfrm>
          <a:prstGeom prst="rect">
            <a:avLst/>
          </a:prstGeom>
          <a:noFill/>
          <a:ln/>
        </p:spPr>
        <p:txBody>
          <a:bodyPr wrap="square" lIns="0" tIns="0" rIns="0" bIns="0" rtlCol="0" anchor="ctr">
            <a:noAutofit/>
          </a:bodyPr>
          <a:lstStyle/>
          <a:p>
            <a:pPr marL="0" indent="0">
              <a:buNone/>
            </a:pPr>
            <a:r>
              <a:rPr lang="en-US" sz="1200" b="1" dirty="0">
                <a:solidFill>
                  <a:srgbClr val="F3C45B"/>
                </a:solidFill>
                <a:latin typeface="Times New Roman" pitchFamily="34" charset="0"/>
                <a:ea typeface="Times New Roman" pitchFamily="34" charset="-122"/>
                <a:cs typeface="Times New Roman" pitchFamily="34" charset="-120"/>
              </a:rPr>
              <a:t>MODELS TO COMPARE</a:t>
            </a:r>
            <a:endParaRPr lang="en-US" sz="1200" dirty="0"/>
          </a:p>
        </p:txBody>
      </p:sp>
      <p:sp>
        <p:nvSpPr>
          <p:cNvPr id="49" name="Shape 46"/>
          <p:cNvSpPr/>
          <p:nvPr/>
        </p:nvSpPr>
        <p:spPr>
          <a:xfrm>
            <a:off x="4983480" y="3977640"/>
            <a:ext cx="59436" cy="59436"/>
          </a:xfrm>
          <a:prstGeom prst="ellipse">
            <a:avLst/>
          </a:prstGeom>
          <a:solidFill>
            <a:srgbClr val="F3C45B"/>
          </a:solidFill>
          <a:ln w="12700">
            <a:solidFill>
              <a:srgbClr val="F3C45B">
                <a:alpha val="0"/>
              </a:srgbClr>
            </a:solidFill>
            <a:prstDash val="solid"/>
          </a:ln>
        </p:spPr>
      </p:sp>
      <p:sp>
        <p:nvSpPr>
          <p:cNvPr id="50" name="Text 47"/>
          <p:cNvSpPr/>
          <p:nvPr/>
        </p:nvSpPr>
        <p:spPr>
          <a:xfrm>
            <a:off x="5111496" y="3913632"/>
            <a:ext cx="2148840" cy="182880"/>
          </a:xfrm>
          <a:prstGeom prst="rect">
            <a:avLst/>
          </a:prstGeom>
          <a:noFill/>
          <a:ln/>
        </p:spPr>
        <p:txBody>
          <a:bodyPr wrap="square" lIns="0" tIns="0" rIns="0" bIns="0" rtlCol="0" anchor="ctr">
            <a:noAutofit/>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Logistic Regression — interpretable baseline</a:t>
            </a:r>
            <a:endParaRPr lang="en-US" sz="1100" dirty="0"/>
          </a:p>
        </p:txBody>
      </p:sp>
      <p:sp>
        <p:nvSpPr>
          <p:cNvPr id="51" name="Shape 48"/>
          <p:cNvSpPr/>
          <p:nvPr/>
        </p:nvSpPr>
        <p:spPr>
          <a:xfrm>
            <a:off x="4983480" y="4315968"/>
            <a:ext cx="59436" cy="59436"/>
          </a:xfrm>
          <a:prstGeom prst="ellipse">
            <a:avLst/>
          </a:prstGeom>
          <a:solidFill>
            <a:srgbClr val="F3C45B"/>
          </a:solidFill>
          <a:ln w="12700">
            <a:solidFill>
              <a:srgbClr val="F3C45B">
                <a:alpha val="0"/>
              </a:srgbClr>
            </a:solidFill>
            <a:prstDash val="solid"/>
          </a:ln>
        </p:spPr>
      </p:sp>
      <p:sp>
        <p:nvSpPr>
          <p:cNvPr id="52" name="Text 49"/>
          <p:cNvSpPr/>
          <p:nvPr/>
        </p:nvSpPr>
        <p:spPr>
          <a:xfrm>
            <a:off x="5111496" y="4251960"/>
            <a:ext cx="2148840" cy="182880"/>
          </a:xfrm>
          <a:prstGeom prst="rect">
            <a:avLst/>
          </a:prstGeom>
          <a:noFill/>
          <a:ln/>
        </p:spPr>
        <p:txBody>
          <a:bodyPr wrap="square" lIns="0" tIns="0" rIns="0" bIns="0" rtlCol="0" anchor="ctr">
            <a:noAutofit/>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SVM — strong for small/medium feature sets</a:t>
            </a:r>
            <a:endParaRPr lang="en-US" sz="1100" dirty="0"/>
          </a:p>
        </p:txBody>
      </p:sp>
      <p:sp>
        <p:nvSpPr>
          <p:cNvPr id="53" name="Shape 50"/>
          <p:cNvSpPr/>
          <p:nvPr/>
        </p:nvSpPr>
        <p:spPr>
          <a:xfrm>
            <a:off x="4983480" y="4654296"/>
            <a:ext cx="59436" cy="59436"/>
          </a:xfrm>
          <a:prstGeom prst="ellipse">
            <a:avLst/>
          </a:prstGeom>
          <a:solidFill>
            <a:srgbClr val="F3C45B"/>
          </a:solidFill>
          <a:ln w="12700">
            <a:solidFill>
              <a:srgbClr val="F3C45B">
                <a:alpha val="0"/>
              </a:srgbClr>
            </a:solidFill>
            <a:prstDash val="solid"/>
          </a:ln>
        </p:spPr>
      </p:sp>
      <p:sp>
        <p:nvSpPr>
          <p:cNvPr id="54" name="Text 51"/>
          <p:cNvSpPr/>
          <p:nvPr/>
        </p:nvSpPr>
        <p:spPr>
          <a:xfrm>
            <a:off x="5111496" y="4590288"/>
            <a:ext cx="2148840" cy="182880"/>
          </a:xfrm>
          <a:prstGeom prst="rect">
            <a:avLst/>
          </a:prstGeom>
          <a:noFill/>
          <a:ln/>
        </p:spPr>
        <p:txBody>
          <a:bodyPr wrap="square" lIns="0" tIns="0" rIns="0" bIns="0" rtlCol="0" anchor="ctr">
            <a:noAutofit/>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Decision Tree / Random Forest — handles non-linear patterns</a:t>
            </a:r>
            <a:endParaRPr lang="en-US" sz="1100" dirty="0"/>
          </a:p>
        </p:txBody>
      </p:sp>
      <p:sp>
        <p:nvSpPr>
          <p:cNvPr id="55" name="Shape 52"/>
          <p:cNvSpPr/>
          <p:nvPr/>
        </p:nvSpPr>
        <p:spPr>
          <a:xfrm>
            <a:off x="7818120" y="3419856"/>
            <a:ext cx="3017520" cy="1554480"/>
          </a:xfrm>
          <a:prstGeom prst="roundRect">
            <a:avLst>
              <a:gd name="adj" fmla="val 4706"/>
            </a:avLst>
          </a:prstGeom>
          <a:solidFill>
            <a:srgbClr val="0B2036">
              <a:alpha val="97000"/>
            </a:srgbClr>
          </a:solidFill>
          <a:ln w="9525">
            <a:solidFill>
              <a:srgbClr val="1F6E96">
                <a:alpha val="72000"/>
              </a:srgbClr>
            </a:solidFill>
            <a:prstDash val="solid"/>
          </a:ln>
        </p:spPr>
      </p:sp>
      <p:sp>
        <p:nvSpPr>
          <p:cNvPr id="56" name="Text 53"/>
          <p:cNvSpPr/>
          <p:nvPr/>
        </p:nvSpPr>
        <p:spPr>
          <a:xfrm>
            <a:off x="8083296" y="3557576"/>
            <a:ext cx="1645920" cy="155448"/>
          </a:xfrm>
          <a:prstGeom prst="rect">
            <a:avLst/>
          </a:prstGeom>
          <a:noFill/>
          <a:ln/>
        </p:spPr>
        <p:txBody>
          <a:bodyPr wrap="square" lIns="0" tIns="0" rIns="0" bIns="0" rtlCol="0" anchor="ctr">
            <a:noAutofit/>
          </a:bodyPr>
          <a:lstStyle/>
          <a:p>
            <a:pPr marL="0" indent="0">
              <a:buNone/>
            </a:pPr>
            <a:r>
              <a:rPr lang="en-US" sz="1200" b="1" dirty="0">
                <a:solidFill>
                  <a:srgbClr val="61E6A3"/>
                </a:solidFill>
                <a:latin typeface="Times New Roman" pitchFamily="34" charset="0"/>
                <a:ea typeface="Times New Roman" pitchFamily="34" charset="-122"/>
                <a:cs typeface="Times New Roman" pitchFamily="34" charset="-120"/>
              </a:rPr>
              <a:t>TEMPORAL SMOOTHING</a:t>
            </a:r>
            <a:endParaRPr lang="en-US" sz="1200" dirty="0"/>
          </a:p>
        </p:txBody>
      </p:sp>
      <p:sp>
        <p:nvSpPr>
          <p:cNvPr id="57" name="Text 54"/>
          <p:cNvSpPr/>
          <p:nvPr/>
        </p:nvSpPr>
        <p:spPr>
          <a:xfrm>
            <a:off x="8083296" y="3959352"/>
            <a:ext cx="2542032" cy="603504"/>
          </a:xfrm>
          <a:prstGeom prst="rect">
            <a:avLst/>
          </a:prstGeom>
          <a:noFill/>
          <a:ln/>
        </p:spPr>
        <p:txBody>
          <a:bodyPr wrap="square" lIns="0" tIns="0" rIns="0" bIns="0" rtlCol="0" anchor="ctr">
            <a:noAutofit/>
          </a:bodyPr>
          <a:lstStyle/>
          <a:p>
            <a:pPr marL="0" indent="0">
              <a:buNone/>
            </a:pPr>
            <a:r>
              <a:rPr lang="en-US" sz="1200" dirty="0">
                <a:solidFill>
                  <a:srgbClr val="FFFFFF"/>
                </a:solidFill>
                <a:latin typeface="Times New Roman" pitchFamily="34" charset="0"/>
                <a:ea typeface="Times New Roman" pitchFamily="34" charset="-122"/>
                <a:cs typeface="Times New Roman" pitchFamily="34" charset="-120"/>
              </a:rPr>
              <a:t>Frame-level predictions can flicker. We will classify short windows, then smooth labels over time. “Motionless after fall” = fall detected + very low keypoint velocity for several seconds.</a:t>
            </a:r>
            <a:endParaRPr lang="en-US" sz="1200" dirty="0"/>
          </a:p>
        </p:txBody>
      </p:sp>
      <p:sp>
        <p:nvSpPr>
          <p:cNvPr id="58" name="Text 55"/>
          <p:cNvSpPr/>
          <p:nvPr/>
        </p:nvSpPr>
        <p:spPr>
          <a:xfrm>
            <a:off x="676656" y="5486400"/>
            <a:ext cx="10058400" cy="228600"/>
          </a:xfrm>
          <a:prstGeom prst="rect">
            <a:avLst/>
          </a:prstGeom>
          <a:noFill/>
          <a:ln/>
        </p:spPr>
        <p:txBody>
          <a:bodyPr wrap="square" lIns="0" tIns="0" rIns="0" bIns="0" rtlCol="0" anchor="ctr">
            <a:normAutofit/>
          </a:bodyPr>
          <a:lstStyle/>
          <a:p>
            <a:pPr marL="0" indent="0">
              <a:buNone/>
            </a:pPr>
            <a:r>
              <a:rPr lang="en-US" sz="1200" dirty="0">
                <a:solidFill>
                  <a:srgbClr val="B5C7D8"/>
                </a:solidFill>
                <a:latin typeface="Times New Roman" pitchFamily="34" charset="0"/>
                <a:ea typeface="Times New Roman" pitchFamily="34" charset="-122"/>
                <a:cs typeface="Times New Roman" pitchFamily="34" charset="-120"/>
              </a:rPr>
              <a:t>Why MediaPipe over OpenPose for demo: easier Python setup, lightweight real-time pose estimation, and 33 landmarks from image/video input.</a:t>
            </a:r>
            <a:endParaRPr lang="en-US" sz="1200" dirty="0"/>
          </a:p>
        </p:txBody>
      </p:sp>
      <p:sp>
        <p:nvSpPr>
          <p:cNvPr id="59" name="Shape 56"/>
          <p:cNvSpPr/>
          <p:nvPr/>
        </p:nvSpPr>
        <p:spPr>
          <a:xfrm>
            <a:off x="438912" y="6455664"/>
            <a:ext cx="11292840" cy="0"/>
          </a:xfrm>
          <a:prstGeom prst="line">
            <a:avLst/>
          </a:prstGeom>
          <a:noFill/>
          <a:ln w="6985">
            <a:solidFill>
              <a:srgbClr val="1E5276">
                <a:alpha val="78000"/>
              </a:srgbClr>
            </a:solidFill>
            <a:prstDash val="solid"/>
          </a:ln>
        </p:spPr>
      </p:sp>
      <p:sp>
        <p:nvSpPr>
          <p:cNvPr id="60" name="Text 57"/>
          <p:cNvSpPr/>
          <p:nvPr/>
        </p:nvSpPr>
        <p:spPr>
          <a:xfrm>
            <a:off x="475488" y="6556248"/>
            <a:ext cx="7040880" cy="118872"/>
          </a:xfrm>
          <a:prstGeom prst="rect">
            <a:avLst/>
          </a:prstGeom>
          <a:noFill/>
          <a:ln/>
        </p:spPr>
        <p:txBody>
          <a:bodyPr wrap="square" lIns="0" tIns="0" rIns="0" bIns="0" rtlCol="0" anchor="ctr">
            <a:normAutofit fontScale="92500" lnSpcReduction="10000"/>
          </a:bodyPr>
          <a:lstStyle/>
          <a:p>
            <a:pPr marL="0" indent="0">
              <a:buNone/>
            </a:pPr>
            <a:r>
              <a:rPr lang="en-US" sz="900" dirty="0">
                <a:solidFill>
                  <a:srgbClr val="7893A9"/>
                </a:solidFill>
                <a:latin typeface="Times New Roman" pitchFamily="34" charset="0"/>
                <a:ea typeface="Times New Roman" pitchFamily="34" charset="-122"/>
                <a:cs typeface="Times New Roman" pitchFamily="34" charset="-120"/>
              </a:rPr>
              <a:t>Sources: Google MediaPipe Pose Landmarker detects body pose landmarks from images/video and outputs image/world coordinates.</a:t>
            </a:r>
            <a:endParaRPr lang="en-US" sz="900" dirty="0"/>
          </a:p>
        </p:txBody>
      </p:sp>
      <p:sp>
        <p:nvSpPr>
          <p:cNvPr id="61" name="Text 58"/>
          <p:cNvSpPr/>
          <p:nvPr/>
        </p:nvSpPr>
        <p:spPr>
          <a:xfrm>
            <a:off x="8458200" y="6556248"/>
            <a:ext cx="3063240" cy="118872"/>
          </a:xfrm>
          <a:prstGeom prst="rect">
            <a:avLst/>
          </a:prstGeom>
          <a:noFill/>
          <a:ln/>
        </p:spPr>
        <p:txBody>
          <a:bodyPr wrap="square" lIns="0" tIns="0" rIns="0" bIns="0" rtlCol="0" anchor="ctr">
            <a:noAutofit/>
          </a:bodyPr>
          <a:lstStyle/>
          <a:p>
            <a:pPr marL="0" indent="0" algn="r">
              <a:buNone/>
            </a:pPr>
            <a:r>
              <a:rPr lang="en-US" sz="1100" dirty="0">
                <a:solidFill>
                  <a:srgbClr val="7893A9"/>
                </a:solidFill>
                <a:latin typeface="Times New Roman" pitchFamily="34" charset="0"/>
                <a:ea typeface="Times New Roman" pitchFamily="34" charset="-122"/>
                <a:cs typeface="Times New Roman" pitchFamily="34" charset="-120"/>
              </a:rPr>
              <a:t>Emergency Behaviour Classification from Video using ML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101D"/>
        </a:solidFill>
        <a:effectLst/>
      </p:bgPr>
    </p:bg>
    <p:spTree>
      <p:nvGrpSpPr>
        <p:cNvPr id="1" name=""/>
        <p:cNvGrpSpPr/>
        <p:nvPr/>
      </p:nvGrpSpPr>
      <p:grpSpPr>
        <a:xfrm>
          <a:off x="0" y="0"/>
          <a:ext cx="0" cy="0"/>
          <a:chOff x="0" y="0"/>
          <a:chExt cx="0" cy="0"/>
        </a:xfrm>
      </p:grpSpPr>
      <p:sp>
        <p:nvSpPr>
          <p:cNvPr id="2" name="Text 0"/>
          <p:cNvSpPr/>
          <p:nvPr/>
        </p:nvSpPr>
        <p:spPr>
          <a:xfrm>
            <a:off x="438912" y="301752"/>
            <a:ext cx="475488" cy="201168"/>
          </a:xfrm>
          <a:prstGeom prst="rect">
            <a:avLst/>
          </a:prstGeom>
          <a:noFill/>
          <a:ln/>
        </p:spPr>
        <p:txBody>
          <a:bodyPr wrap="square" lIns="0" tIns="0" rIns="0" bIns="0" rtlCol="0" anchor="ctr">
            <a:normAutofit/>
          </a:bodyPr>
          <a:lstStyle/>
          <a:p>
            <a:pPr marL="0" indent="0">
              <a:buNone/>
            </a:pPr>
            <a:r>
              <a:rPr lang="en-US" sz="1300" b="1" dirty="0">
                <a:solidFill>
                  <a:srgbClr val="2DEBFF"/>
                </a:solidFill>
                <a:latin typeface="Times New Roman" pitchFamily="34" charset="0"/>
                <a:ea typeface="Times New Roman" pitchFamily="34" charset="-122"/>
                <a:cs typeface="Times New Roman" pitchFamily="34" charset="-120"/>
              </a:rPr>
              <a:t>04</a:t>
            </a:r>
            <a:endParaRPr lang="en-US" sz="1300" dirty="0"/>
          </a:p>
        </p:txBody>
      </p:sp>
      <p:sp>
        <p:nvSpPr>
          <p:cNvPr id="3" name="Shape 1"/>
          <p:cNvSpPr/>
          <p:nvPr/>
        </p:nvSpPr>
        <p:spPr>
          <a:xfrm>
            <a:off x="1033272" y="411480"/>
            <a:ext cx="841248" cy="0"/>
          </a:xfrm>
          <a:prstGeom prst="line">
            <a:avLst/>
          </a:prstGeom>
          <a:noFill/>
          <a:ln w="13335">
            <a:solidFill>
              <a:srgbClr val="2DEBFF">
                <a:alpha val="96000"/>
              </a:srgbClr>
            </a:solidFill>
            <a:prstDash val="solid"/>
          </a:ln>
        </p:spPr>
      </p:sp>
      <p:sp>
        <p:nvSpPr>
          <p:cNvPr id="4" name="Text 2"/>
          <p:cNvSpPr/>
          <p:nvPr/>
        </p:nvSpPr>
        <p:spPr>
          <a:xfrm>
            <a:off x="2011680" y="283464"/>
            <a:ext cx="4389120" cy="219456"/>
          </a:xfrm>
          <a:prstGeom prst="rect">
            <a:avLst/>
          </a:prstGeom>
          <a:noFill/>
          <a:ln/>
        </p:spPr>
        <p:txBody>
          <a:bodyPr wrap="square" lIns="0" tIns="0" rIns="0" bIns="0" rtlCol="0" anchor="ctr">
            <a:normAutofit/>
          </a:bodyPr>
          <a:lstStyle/>
          <a:p>
            <a:pPr marL="0" indent="0">
              <a:buNone/>
            </a:pPr>
            <a:r>
              <a:rPr lang="en-US" sz="1080" b="1" dirty="0">
                <a:solidFill>
                  <a:srgbClr val="B5C7D8"/>
                </a:solidFill>
                <a:latin typeface="Times New Roman" pitchFamily="34" charset="0"/>
                <a:ea typeface="Times New Roman" pitchFamily="34" charset="-122"/>
                <a:cs typeface="Times New Roman" pitchFamily="34" charset="-120"/>
              </a:rPr>
              <a:t>EVALUATION AND DELIVERABLES</a:t>
            </a:r>
            <a:endParaRPr lang="en-US" sz="1080" dirty="0"/>
          </a:p>
        </p:txBody>
      </p:sp>
      <p:sp>
        <p:nvSpPr>
          <p:cNvPr id="5" name="Text 3"/>
          <p:cNvSpPr/>
          <p:nvPr/>
        </p:nvSpPr>
        <p:spPr>
          <a:xfrm>
            <a:off x="566928" y="731520"/>
            <a:ext cx="6583680" cy="566928"/>
          </a:xfrm>
          <a:prstGeom prst="rect">
            <a:avLst/>
          </a:prstGeom>
          <a:noFill/>
          <a:ln/>
        </p:spPr>
        <p:txBody>
          <a:bodyPr wrap="square" lIns="0" tIns="0" rIns="0" bIns="0" rtlCol="0" anchor="ctr">
            <a:normAutofit/>
          </a:bodyPr>
          <a:lstStyle/>
          <a:p>
            <a:pPr marL="0" indent="0">
              <a:buNone/>
            </a:pPr>
            <a:r>
              <a:rPr lang="en-US" sz="2850" b="1" dirty="0">
                <a:solidFill>
                  <a:srgbClr val="FFFFFF"/>
                </a:solidFill>
                <a:latin typeface="Times New Roman" pitchFamily="34" charset="0"/>
                <a:ea typeface="Times New Roman" pitchFamily="34" charset="-122"/>
                <a:cs typeface="Times New Roman" pitchFamily="34" charset="-120"/>
              </a:rPr>
              <a:t>Success Criteria, Risks and Final Submission</a:t>
            </a:r>
            <a:endParaRPr lang="en-US" sz="2850" dirty="0"/>
          </a:p>
        </p:txBody>
      </p:sp>
      <p:sp>
        <p:nvSpPr>
          <p:cNvPr id="6" name="Text 4"/>
          <p:cNvSpPr/>
          <p:nvPr/>
        </p:nvSpPr>
        <p:spPr>
          <a:xfrm>
            <a:off x="585216" y="1659636"/>
            <a:ext cx="6492240" cy="292608"/>
          </a:xfrm>
          <a:prstGeom prst="rect">
            <a:avLst/>
          </a:prstGeom>
          <a:noFill/>
          <a:ln/>
        </p:spPr>
        <p:txBody>
          <a:bodyPr wrap="square" lIns="0" tIns="0" rIns="0" bIns="0" rtlCol="0" anchor="ctr">
            <a:noAutofit/>
          </a:bodyPr>
          <a:lstStyle/>
          <a:p>
            <a:pPr marL="0" indent="0">
              <a:buNone/>
            </a:pPr>
            <a:r>
              <a:rPr lang="en-US" dirty="0">
                <a:solidFill>
                  <a:srgbClr val="B5C7D8"/>
                </a:solidFill>
                <a:latin typeface="Times New Roman" pitchFamily="34" charset="0"/>
                <a:ea typeface="Times New Roman" pitchFamily="34" charset="-122"/>
                <a:cs typeface="Times New Roman" pitchFamily="34" charset="-120"/>
              </a:rPr>
              <a:t>The project will be judged by model performance, clarity of the pipeline, and whether the demo produces understandable timestamped outputs.</a:t>
            </a:r>
            <a:endParaRPr lang="en-US" dirty="0"/>
          </a:p>
        </p:txBody>
      </p:sp>
      <p:sp>
        <p:nvSpPr>
          <p:cNvPr id="7" name="Shape 5"/>
          <p:cNvSpPr/>
          <p:nvPr/>
        </p:nvSpPr>
        <p:spPr>
          <a:xfrm>
            <a:off x="640080" y="2199132"/>
            <a:ext cx="3337560" cy="1856232"/>
          </a:xfrm>
          <a:prstGeom prst="roundRect">
            <a:avLst>
              <a:gd name="adj" fmla="val 3941"/>
            </a:avLst>
          </a:prstGeom>
          <a:solidFill>
            <a:srgbClr val="0B2036">
              <a:alpha val="97000"/>
            </a:srgbClr>
          </a:solidFill>
          <a:ln w="9525">
            <a:solidFill>
              <a:srgbClr val="1F6E96">
                <a:alpha val="72000"/>
              </a:srgbClr>
            </a:solidFill>
            <a:prstDash val="solid"/>
          </a:ln>
        </p:spPr>
      </p:sp>
      <p:sp>
        <p:nvSpPr>
          <p:cNvPr id="8" name="Text 6"/>
          <p:cNvSpPr/>
          <p:nvPr/>
        </p:nvSpPr>
        <p:spPr>
          <a:xfrm>
            <a:off x="877824" y="2436876"/>
            <a:ext cx="1645920" cy="155448"/>
          </a:xfrm>
          <a:prstGeom prst="rect">
            <a:avLst/>
          </a:prstGeom>
          <a:noFill/>
          <a:ln/>
        </p:spPr>
        <p:txBody>
          <a:bodyPr wrap="square" lIns="0" tIns="0" rIns="0" bIns="0" rtlCol="0" anchor="ctr">
            <a:noAutofit/>
          </a:bodyPr>
          <a:lstStyle/>
          <a:p>
            <a:pPr marL="0" indent="0">
              <a:buNone/>
            </a:pPr>
            <a:r>
              <a:rPr lang="en-US" sz="1100" b="1" dirty="0">
                <a:solidFill>
                  <a:srgbClr val="2DEBFF"/>
                </a:solidFill>
                <a:latin typeface="Times New Roman" pitchFamily="34" charset="0"/>
                <a:ea typeface="Times New Roman" pitchFamily="34" charset="-122"/>
                <a:cs typeface="Times New Roman" pitchFamily="34" charset="-120"/>
              </a:rPr>
              <a:t>EVALUATION METRICS</a:t>
            </a:r>
            <a:endParaRPr lang="en-US" sz="1100" dirty="0"/>
          </a:p>
        </p:txBody>
      </p:sp>
      <p:sp>
        <p:nvSpPr>
          <p:cNvPr id="9" name="Shape 7"/>
          <p:cNvSpPr/>
          <p:nvPr/>
        </p:nvSpPr>
        <p:spPr>
          <a:xfrm>
            <a:off x="877824" y="2830068"/>
            <a:ext cx="59436" cy="59436"/>
          </a:xfrm>
          <a:prstGeom prst="ellipse">
            <a:avLst/>
          </a:prstGeom>
          <a:solidFill>
            <a:srgbClr val="2DEBFF"/>
          </a:solidFill>
          <a:ln w="12700">
            <a:solidFill>
              <a:srgbClr val="2DEBFF">
                <a:alpha val="0"/>
              </a:srgbClr>
            </a:solidFill>
            <a:prstDash val="solid"/>
          </a:ln>
        </p:spPr>
      </p:sp>
      <p:sp>
        <p:nvSpPr>
          <p:cNvPr id="10" name="Text 8"/>
          <p:cNvSpPr/>
          <p:nvPr/>
        </p:nvSpPr>
        <p:spPr>
          <a:xfrm>
            <a:off x="1005840" y="2766060"/>
            <a:ext cx="2697480" cy="182880"/>
          </a:xfrm>
          <a:prstGeom prst="rect">
            <a:avLst/>
          </a:prstGeom>
          <a:noFill/>
          <a:ln/>
        </p:spPr>
        <p:txBody>
          <a:bodyPr wrap="square" lIns="0" tIns="0" rIns="0" bIns="0" rtlCol="0" anchor="ctr">
            <a:normAutofit/>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Accuracy — overall correctness</a:t>
            </a:r>
            <a:endParaRPr lang="en-US" sz="1100" dirty="0"/>
          </a:p>
        </p:txBody>
      </p:sp>
      <p:sp>
        <p:nvSpPr>
          <p:cNvPr id="11" name="Shape 9"/>
          <p:cNvSpPr/>
          <p:nvPr/>
        </p:nvSpPr>
        <p:spPr>
          <a:xfrm>
            <a:off x="877824" y="3159252"/>
            <a:ext cx="59436" cy="59436"/>
          </a:xfrm>
          <a:prstGeom prst="ellipse">
            <a:avLst/>
          </a:prstGeom>
          <a:solidFill>
            <a:srgbClr val="2DEBFF"/>
          </a:solidFill>
          <a:ln w="12700">
            <a:solidFill>
              <a:srgbClr val="2DEBFF">
                <a:alpha val="0"/>
              </a:srgbClr>
            </a:solidFill>
            <a:prstDash val="solid"/>
          </a:ln>
        </p:spPr>
      </p:sp>
      <p:sp>
        <p:nvSpPr>
          <p:cNvPr id="12" name="Text 10"/>
          <p:cNvSpPr/>
          <p:nvPr/>
        </p:nvSpPr>
        <p:spPr>
          <a:xfrm>
            <a:off x="1005840" y="3095244"/>
            <a:ext cx="2697480" cy="182880"/>
          </a:xfrm>
          <a:prstGeom prst="rect">
            <a:avLst/>
          </a:prstGeom>
          <a:noFill/>
          <a:ln/>
        </p:spPr>
        <p:txBody>
          <a:bodyPr wrap="square" lIns="0" tIns="0" rIns="0" bIns="0" rtlCol="0" anchor="ctr">
            <a:normAutofit/>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Precision — false alarm control</a:t>
            </a:r>
            <a:endParaRPr lang="en-US" sz="1100" dirty="0"/>
          </a:p>
        </p:txBody>
      </p:sp>
      <p:sp>
        <p:nvSpPr>
          <p:cNvPr id="13" name="Shape 11"/>
          <p:cNvSpPr/>
          <p:nvPr/>
        </p:nvSpPr>
        <p:spPr>
          <a:xfrm>
            <a:off x="877824" y="3488436"/>
            <a:ext cx="59436" cy="59436"/>
          </a:xfrm>
          <a:prstGeom prst="ellipse">
            <a:avLst/>
          </a:prstGeom>
          <a:solidFill>
            <a:srgbClr val="2DEBFF"/>
          </a:solidFill>
          <a:ln w="12700">
            <a:solidFill>
              <a:srgbClr val="2DEBFF">
                <a:alpha val="0"/>
              </a:srgbClr>
            </a:solidFill>
            <a:prstDash val="solid"/>
          </a:ln>
        </p:spPr>
      </p:sp>
      <p:sp>
        <p:nvSpPr>
          <p:cNvPr id="14" name="Text 12"/>
          <p:cNvSpPr/>
          <p:nvPr/>
        </p:nvSpPr>
        <p:spPr>
          <a:xfrm>
            <a:off x="1005840" y="3424428"/>
            <a:ext cx="2697480" cy="182880"/>
          </a:xfrm>
          <a:prstGeom prst="rect">
            <a:avLst/>
          </a:prstGeom>
          <a:noFill/>
          <a:ln/>
        </p:spPr>
        <p:txBody>
          <a:bodyPr wrap="square" lIns="0" tIns="0" rIns="0" bIns="0" rtlCol="0" anchor="ctr">
            <a:normAutofit/>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Recall — catches real emergencies</a:t>
            </a:r>
            <a:endParaRPr lang="en-US" sz="1100" dirty="0"/>
          </a:p>
        </p:txBody>
      </p:sp>
      <p:sp>
        <p:nvSpPr>
          <p:cNvPr id="15" name="Shape 13"/>
          <p:cNvSpPr/>
          <p:nvPr/>
        </p:nvSpPr>
        <p:spPr>
          <a:xfrm>
            <a:off x="877824" y="3817620"/>
            <a:ext cx="59436" cy="59436"/>
          </a:xfrm>
          <a:prstGeom prst="ellipse">
            <a:avLst/>
          </a:prstGeom>
          <a:solidFill>
            <a:srgbClr val="2DEBFF"/>
          </a:solidFill>
          <a:ln w="12700">
            <a:solidFill>
              <a:srgbClr val="2DEBFF">
                <a:alpha val="0"/>
              </a:srgbClr>
            </a:solidFill>
            <a:prstDash val="solid"/>
          </a:ln>
        </p:spPr>
      </p:sp>
      <p:sp>
        <p:nvSpPr>
          <p:cNvPr id="16" name="Text 14"/>
          <p:cNvSpPr/>
          <p:nvPr/>
        </p:nvSpPr>
        <p:spPr>
          <a:xfrm>
            <a:off x="1005840" y="3753612"/>
            <a:ext cx="2697480" cy="182880"/>
          </a:xfrm>
          <a:prstGeom prst="rect">
            <a:avLst/>
          </a:prstGeom>
          <a:noFill/>
          <a:ln/>
        </p:spPr>
        <p:txBody>
          <a:bodyPr wrap="square" lIns="0" tIns="0" rIns="0" bIns="0" rtlCol="0" anchor="ctr">
            <a:noAutofit/>
          </a:bodyPr>
          <a:lstStyle/>
          <a:p>
            <a:pPr marL="0" indent="0">
              <a:buNone/>
            </a:pPr>
            <a:r>
              <a:rPr lang="en-US" sz="1050" dirty="0">
                <a:solidFill>
                  <a:srgbClr val="FFFFFF"/>
                </a:solidFill>
                <a:latin typeface="Times New Roman" pitchFamily="34" charset="0"/>
                <a:ea typeface="Times New Roman" pitchFamily="34" charset="-122"/>
                <a:cs typeface="Times New Roman" pitchFamily="34" charset="-120"/>
              </a:rPr>
              <a:t>F1-score + confusion matrix — class-wise comparison</a:t>
            </a:r>
            <a:endParaRPr lang="en-US" sz="1050" dirty="0"/>
          </a:p>
        </p:txBody>
      </p:sp>
      <p:sp>
        <p:nvSpPr>
          <p:cNvPr id="17" name="Shape 15"/>
          <p:cNvSpPr/>
          <p:nvPr/>
        </p:nvSpPr>
        <p:spPr>
          <a:xfrm>
            <a:off x="4233672" y="2199132"/>
            <a:ext cx="3200400" cy="1856232"/>
          </a:xfrm>
          <a:prstGeom prst="roundRect">
            <a:avLst>
              <a:gd name="adj" fmla="val 3941"/>
            </a:avLst>
          </a:prstGeom>
          <a:solidFill>
            <a:srgbClr val="0B2036">
              <a:alpha val="97000"/>
            </a:srgbClr>
          </a:solidFill>
          <a:ln w="9525">
            <a:solidFill>
              <a:srgbClr val="1F6E96">
                <a:alpha val="72000"/>
              </a:srgbClr>
            </a:solidFill>
            <a:prstDash val="solid"/>
          </a:ln>
        </p:spPr>
      </p:sp>
      <p:sp>
        <p:nvSpPr>
          <p:cNvPr id="18" name="Text 16"/>
          <p:cNvSpPr/>
          <p:nvPr/>
        </p:nvSpPr>
        <p:spPr>
          <a:xfrm>
            <a:off x="4480560" y="2436876"/>
            <a:ext cx="1645920" cy="155448"/>
          </a:xfrm>
          <a:prstGeom prst="rect">
            <a:avLst/>
          </a:prstGeom>
          <a:noFill/>
          <a:ln/>
        </p:spPr>
        <p:txBody>
          <a:bodyPr wrap="square" lIns="0" tIns="0" rIns="0" bIns="0" rtlCol="0" anchor="ctr">
            <a:noAutofit/>
          </a:bodyPr>
          <a:lstStyle/>
          <a:p>
            <a:pPr marL="0" indent="0">
              <a:buNone/>
            </a:pPr>
            <a:r>
              <a:rPr lang="en-US" sz="1100" b="1" dirty="0">
                <a:solidFill>
                  <a:srgbClr val="F3C45B"/>
                </a:solidFill>
                <a:latin typeface="Times New Roman" pitchFamily="34" charset="0"/>
                <a:ea typeface="Times New Roman" pitchFamily="34" charset="-122"/>
                <a:cs typeface="Times New Roman" pitchFamily="34" charset="-120"/>
              </a:rPr>
              <a:t>VALIDATION PLAN</a:t>
            </a:r>
            <a:endParaRPr lang="en-US" sz="1100" dirty="0"/>
          </a:p>
        </p:txBody>
      </p:sp>
      <p:sp>
        <p:nvSpPr>
          <p:cNvPr id="19" name="Text 17"/>
          <p:cNvSpPr/>
          <p:nvPr/>
        </p:nvSpPr>
        <p:spPr>
          <a:xfrm>
            <a:off x="4480560" y="2766060"/>
            <a:ext cx="2697480" cy="694944"/>
          </a:xfrm>
          <a:prstGeom prst="rect">
            <a:avLst/>
          </a:prstGeom>
          <a:noFill/>
          <a:ln/>
        </p:spPr>
        <p:txBody>
          <a:bodyPr wrap="square" lIns="0" tIns="0" rIns="0" bIns="0" rtlCol="0" anchor="ctr">
            <a:noAutofit/>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Split skeleton samples by subject/setup where possible, train models on selected NTU classes, evaluate per class, then test with a prerecorded CCTV-style demo. Best model is selected using F1-score and recall, not accuracy alone.</a:t>
            </a:r>
            <a:endParaRPr lang="en-US" sz="1100" dirty="0"/>
          </a:p>
        </p:txBody>
      </p:sp>
      <p:sp>
        <p:nvSpPr>
          <p:cNvPr id="20" name="Shape 18"/>
          <p:cNvSpPr/>
          <p:nvPr/>
        </p:nvSpPr>
        <p:spPr>
          <a:xfrm>
            <a:off x="7726680" y="2199132"/>
            <a:ext cx="2971800" cy="1856232"/>
          </a:xfrm>
          <a:prstGeom prst="roundRect">
            <a:avLst>
              <a:gd name="adj" fmla="val 3941"/>
            </a:avLst>
          </a:prstGeom>
          <a:solidFill>
            <a:srgbClr val="0B2036">
              <a:alpha val="97000"/>
            </a:srgbClr>
          </a:solidFill>
          <a:ln w="9525">
            <a:solidFill>
              <a:srgbClr val="1F6E96">
                <a:alpha val="72000"/>
              </a:srgbClr>
            </a:solidFill>
            <a:prstDash val="solid"/>
          </a:ln>
        </p:spPr>
      </p:sp>
      <p:sp>
        <p:nvSpPr>
          <p:cNvPr id="21" name="Text 19"/>
          <p:cNvSpPr/>
          <p:nvPr/>
        </p:nvSpPr>
        <p:spPr>
          <a:xfrm>
            <a:off x="7964424" y="2436876"/>
            <a:ext cx="1645920" cy="155448"/>
          </a:xfrm>
          <a:prstGeom prst="rect">
            <a:avLst/>
          </a:prstGeom>
          <a:noFill/>
          <a:ln/>
        </p:spPr>
        <p:txBody>
          <a:bodyPr wrap="square" lIns="0" tIns="0" rIns="0" bIns="0" rtlCol="0" anchor="ctr">
            <a:noAutofit/>
          </a:bodyPr>
          <a:lstStyle/>
          <a:p>
            <a:pPr marL="0" indent="0">
              <a:buNone/>
            </a:pPr>
            <a:r>
              <a:rPr lang="en-US" sz="1100" b="1" dirty="0">
                <a:solidFill>
                  <a:srgbClr val="61E6A3"/>
                </a:solidFill>
                <a:latin typeface="Times New Roman" pitchFamily="34" charset="0"/>
                <a:ea typeface="Times New Roman" pitchFamily="34" charset="-122"/>
                <a:cs typeface="Times New Roman" pitchFamily="34" charset="-120"/>
              </a:rPr>
              <a:t>EXPECTED DEMO OUTPUT</a:t>
            </a:r>
            <a:endParaRPr lang="en-US" sz="1100" dirty="0"/>
          </a:p>
        </p:txBody>
      </p:sp>
      <p:sp>
        <p:nvSpPr>
          <p:cNvPr id="22" name="Text 20"/>
          <p:cNvSpPr/>
          <p:nvPr/>
        </p:nvSpPr>
        <p:spPr>
          <a:xfrm>
            <a:off x="7964424" y="2766060"/>
            <a:ext cx="2487168" cy="704088"/>
          </a:xfrm>
          <a:prstGeom prst="rect">
            <a:avLst/>
          </a:prstGeom>
          <a:noFill/>
          <a:ln/>
        </p:spPr>
        <p:txBody>
          <a:bodyPr wrap="square" lIns="0" tIns="0" rIns="0" bIns="0" rtlCol="0" anchor="ctr">
            <a:normAutofit/>
          </a:bodyP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00:04.8 — Normal Activity — 88%</a:t>
            </a:r>
            <a:endParaRPr lang="en-US" sz="1100" dirty="0"/>
          </a:p>
          <a:p>
            <a:pPr marL="0" indent="0">
              <a:buNone/>
            </a:pPr>
            <a:r>
              <a:rPr lang="en-US" sz="1100" b="1" dirty="0">
                <a:solidFill>
                  <a:srgbClr val="FFFFFF"/>
                </a:solidFill>
                <a:latin typeface="Times New Roman" pitchFamily="34" charset="0"/>
                <a:ea typeface="Times New Roman" pitchFamily="34" charset="-122"/>
                <a:cs typeface="Times New Roman" pitchFamily="34" charset="-120"/>
              </a:rPr>
              <a:t>00:11.2 — Staggering — 81%</a:t>
            </a:r>
            <a:endParaRPr lang="en-US" sz="1100" dirty="0"/>
          </a:p>
          <a:p>
            <a:pPr marL="0" indent="0">
              <a:buNone/>
            </a:pPr>
            <a:r>
              <a:rPr lang="en-US" sz="1100" b="1" dirty="0">
                <a:solidFill>
                  <a:srgbClr val="FFFFFF"/>
                </a:solidFill>
                <a:latin typeface="Times New Roman" pitchFamily="34" charset="0"/>
                <a:ea typeface="Times New Roman" pitchFamily="34" charset="-122"/>
                <a:cs typeface="Times New Roman" pitchFamily="34" charset="-120"/>
              </a:rPr>
              <a:t>00:14.5 — Falling — 92%</a:t>
            </a:r>
            <a:endParaRPr lang="en-US" sz="1100" dirty="0"/>
          </a:p>
          <a:p>
            <a:pPr marL="0" indent="0">
              <a:buNone/>
            </a:pPr>
            <a:r>
              <a:rPr lang="en-US" sz="1100" b="1" dirty="0">
                <a:solidFill>
                  <a:srgbClr val="FFFFFF"/>
                </a:solidFill>
                <a:latin typeface="Times New Roman" pitchFamily="34" charset="0"/>
                <a:ea typeface="Times New Roman" pitchFamily="34" charset="-122"/>
                <a:cs typeface="Times New Roman" pitchFamily="34" charset="-120"/>
              </a:rPr>
              <a:t>00:18.0 — Motionless After Fall — Alert</a:t>
            </a:r>
            <a:endParaRPr lang="en-US" sz="1100" dirty="0"/>
          </a:p>
        </p:txBody>
      </p:sp>
      <p:sp>
        <p:nvSpPr>
          <p:cNvPr id="23" name="Shape 21"/>
          <p:cNvSpPr/>
          <p:nvPr/>
        </p:nvSpPr>
        <p:spPr>
          <a:xfrm>
            <a:off x="640080" y="4485132"/>
            <a:ext cx="5102352" cy="1097280"/>
          </a:xfrm>
          <a:prstGeom prst="roundRect">
            <a:avLst>
              <a:gd name="adj" fmla="val 6667"/>
            </a:avLst>
          </a:prstGeom>
          <a:solidFill>
            <a:srgbClr val="0B2036">
              <a:alpha val="97000"/>
            </a:srgbClr>
          </a:solidFill>
          <a:ln w="9525">
            <a:solidFill>
              <a:srgbClr val="1F6E96">
                <a:alpha val="72000"/>
              </a:srgbClr>
            </a:solidFill>
            <a:prstDash val="solid"/>
          </a:ln>
        </p:spPr>
      </p:sp>
      <p:sp>
        <p:nvSpPr>
          <p:cNvPr id="24" name="Text 22"/>
          <p:cNvSpPr/>
          <p:nvPr/>
        </p:nvSpPr>
        <p:spPr>
          <a:xfrm>
            <a:off x="877824" y="4652243"/>
            <a:ext cx="1463040" cy="155448"/>
          </a:xfrm>
          <a:prstGeom prst="rect">
            <a:avLst/>
          </a:prstGeom>
          <a:noFill/>
          <a:ln/>
        </p:spPr>
        <p:txBody>
          <a:bodyPr wrap="square" lIns="0" tIns="0" rIns="0" bIns="0" rtlCol="0" anchor="ctr">
            <a:noAutofit/>
          </a:bodyPr>
          <a:lstStyle/>
          <a:p>
            <a:pPr marL="0" indent="0">
              <a:buNone/>
            </a:pPr>
            <a:r>
              <a:rPr lang="en-US" sz="1100" b="1" dirty="0">
                <a:solidFill>
                  <a:srgbClr val="FF6575"/>
                </a:solidFill>
                <a:latin typeface="Times New Roman" pitchFamily="34" charset="0"/>
                <a:ea typeface="Times New Roman" pitchFamily="34" charset="-122"/>
                <a:cs typeface="Times New Roman" pitchFamily="34" charset="-120"/>
              </a:rPr>
              <a:t>RISK MANAGEMENT</a:t>
            </a:r>
            <a:endParaRPr lang="en-US" sz="1100" dirty="0"/>
          </a:p>
        </p:txBody>
      </p:sp>
      <p:sp>
        <p:nvSpPr>
          <p:cNvPr id="25" name="Text 23"/>
          <p:cNvSpPr/>
          <p:nvPr/>
        </p:nvSpPr>
        <p:spPr>
          <a:xfrm>
            <a:off x="877824" y="4978908"/>
            <a:ext cx="4590288" cy="310896"/>
          </a:xfrm>
          <a:prstGeom prst="rect">
            <a:avLst/>
          </a:prstGeom>
          <a:noFill/>
          <a:ln/>
        </p:spPr>
        <p:txBody>
          <a:bodyPr wrap="square" lIns="0" tIns="0" rIns="0" bIns="0" rtlCol="0" anchor="ctr">
            <a:noAutofit/>
          </a:bodyPr>
          <a:lstStyle/>
          <a:p>
            <a:pPr marL="0" indent="0" algn="just">
              <a:buNone/>
            </a:pPr>
            <a:r>
              <a:rPr lang="en-US" sz="1100" dirty="0">
                <a:solidFill>
                  <a:srgbClr val="FFFFFF"/>
                </a:solidFill>
                <a:latin typeface="Times New Roman" pitchFamily="34" charset="0"/>
                <a:ea typeface="Times New Roman" pitchFamily="34" charset="-122"/>
                <a:cs typeface="Times New Roman" pitchFamily="34" charset="-120"/>
              </a:rPr>
              <a:t>Risk: class imbalance, missing skeleton frames, MediaPipe/NTU coordinate mismatch, and chest gesture ambiguity. Mitigation: ignore incomplete NTU samples, normalise joints, use window-based features, keep “chest distress” as visible hand-to-chest gesture instead of medical diagnosis.</a:t>
            </a:r>
            <a:endParaRPr lang="en-US" sz="1100" dirty="0"/>
          </a:p>
        </p:txBody>
      </p:sp>
      <p:sp>
        <p:nvSpPr>
          <p:cNvPr id="26" name="Shape 24"/>
          <p:cNvSpPr/>
          <p:nvPr/>
        </p:nvSpPr>
        <p:spPr>
          <a:xfrm>
            <a:off x="6035040" y="4485132"/>
            <a:ext cx="4663440" cy="1097280"/>
          </a:xfrm>
          <a:prstGeom prst="roundRect">
            <a:avLst>
              <a:gd name="adj" fmla="val 6667"/>
            </a:avLst>
          </a:prstGeom>
          <a:solidFill>
            <a:srgbClr val="0B2036">
              <a:alpha val="97000"/>
            </a:srgbClr>
          </a:solidFill>
          <a:ln w="9525">
            <a:solidFill>
              <a:srgbClr val="1F6E96">
                <a:alpha val="72000"/>
              </a:srgbClr>
            </a:solidFill>
            <a:prstDash val="solid"/>
          </a:ln>
        </p:spPr>
      </p:sp>
      <p:sp>
        <p:nvSpPr>
          <p:cNvPr id="27" name="Text 25"/>
          <p:cNvSpPr/>
          <p:nvPr/>
        </p:nvSpPr>
        <p:spPr>
          <a:xfrm>
            <a:off x="6291072" y="4640580"/>
            <a:ext cx="1463040" cy="155448"/>
          </a:xfrm>
          <a:prstGeom prst="rect">
            <a:avLst/>
          </a:prstGeom>
          <a:noFill/>
          <a:ln/>
        </p:spPr>
        <p:txBody>
          <a:bodyPr wrap="square" lIns="0" tIns="0" rIns="0" bIns="0" rtlCol="0" anchor="ctr">
            <a:noAutofit/>
          </a:bodyPr>
          <a:lstStyle/>
          <a:p>
            <a:pPr marL="0" indent="0">
              <a:buNone/>
            </a:pPr>
            <a:r>
              <a:rPr lang="en-US" sz="1100" b="1" dirty="0">
                <a:solidFill>
                  <a:srgbClr val="149BFF"/>
                </a:solidFill>
                <a:latin typeface="Times New Roman" pitchFamily="34" charset="0"/>
                <a:ea typeface="Times New Roman" pitchFamily="34" charset="-122"/>
                <a:cs typeface="Times New Roman" pitchFamily="34" charset="-120"/>
              </a:rPr>
              <a:t>DELIVERABLES</a:t>
            </a:r>
            <a:endParaRPr lang="en-US" sz="1100" dirty="0"/>
          </a:p>
        </p:txBody>
      </p:sp>
      <p:sp>
        <p:nvSpPr>
          <p:cNvPr id="28" name="Text 26"/>
          <p:cNvSpPr/>
          <p:nvPr/>
        </p:nvSpPr>
        <p:spPr>
          <a:xfrm>
            <a:off x="6291072" y="4978908"/>
            <a:ext cx="4069080" cy="310896"/>
          </a:xfrm>
          <a:prstGeom prst="rect">
            <a:avLst/>
          </a:prstGeom>
          <a:noFill/>
          <a:ln/>
        </p:spPr>
        <p:txBody>
          <a:bodyPr wrap="square" lIns="0" tIns="0" rIns="0" bIns="0" rtlCol="0" anchor="ctr">
            <a:noAutofit/>
          </a:bodyPr>
          <a:lstStyle/>
          <a:p>
            <a:pPr marL="0" indent="0" algn="just">
              <a:buNone/>
            </a:pPr>
            <a:r>
              <a:rPr lang="en-US" sz="1100" dirty="0">
                <a:solidFill>
                  <a:srgbClr val="FFFFFF"/>
                </a:solidFill>
                <a:latin typeface="Times New Roman" pitchFamily="34" charset="0"/>
                <a:ea typeface="Times New Roman" pitchFamily="34" charset="-122"/>
                <a:cs typeface="Times New Roman" pitchFamily="34" charset="-120"/>
              </a:rPr>
              <a:t>1) Python source code and preprocessing notebook  2) trained model file  3) model comparison table  4) final report  5) PowerPoint presentation  6) prerecorded/live demo video with timestamped behaviour classification.</a:t>
            </a:r>
            <a:endParaRPr lang="en-US" sz="1100" dirty="0"/>
          </a:p>
        </p:txBody>
      </p:sp>
      <p:sp>
        <p:nvSpPr>
          <p:cNvPr id="29" name="Shape 27"/>
          <p:cNvSpPr/>
          <p:nvPr/>
        </p:nvSpPr>
        <p:spPr>
          <a:xfrm>
            <a:off x="640080" y="5829300"/>
            <a:ext cx="10040112" cy="475488"/>
          </a:xfrm>
          <a:prstGeom prst="roundRect">
            <a:avLst>
              <a:gd name="adj" fmla="val 15385"/>
            </a:avLst>
          </a:prstGeom>
          <a:solidFill>
            <a:srgbClr val="0A1B2D">
              <a:alpha val="97000"/>
            </a:srgbClr>
          </a:solidFill>
          <a:ln w="9525">
            <a:solidFill>
              <a:srgbClr val="2DEBFF">
                <a:alpha val="60000"/>
              </a:srgbClr>
            </a:solidFill>
            <a:prstDash val="solid"/>
          </a:ln>
        </p:spPr>
      </p:sp>
      <p:sp>
        <p:nvSpPr>
          <p:cNvPr id="30" name="Text 28"/>
          <p:cNvSpPr/>
          <p:nvPr/>
        </p:nvSpPr>
        <p:spPr>
          <a:xfrm>
            <a:off x="877824" y="5975604"/>
            <a:ext cx="9509760" cy="146304"/>
          </a:xfrm>
          <a:prstGeom prst="rect">
            <a:avLst/>
          </a:prstGeom>
          <a:noFill/>
          <a:ln/>
        </p:spPr>
        <p:txBody>
          <a:bodyPr wrap="square" lIns="0" tIns="0" rIns="0" bIns="0" rtlCol="0" anchor="ctr">
            <a:noAutofit/>
          </a:bodyPr>
          <a:lstStyle/>
          <a:p>
            <a:pPr marL="0" indent="0">
              <a:buNone/>
            </a:pPr>
            <a:r>
              <a:rPr lang="en-US" sz="1100" b="1" dirty="0">
                <a:solidFill>
                  <a:srgbClr val="F3C45B"/>
                </a:solidFill>
                <a:latin typeface="Times New Roman" pitchFamily="34" charset="0"/>
                <a:ea typeface="Times New Roman" pitchFamily="34" charset="-122"/>
                <a:cs typeface="Times New Roman" pitchFamily="34" charset="-120"/>
              </a:rPr>
              <a:t>Final scope: supervised ML classification using skeleton features. LSTM/OpenPose can be written as future extension; main implementation stays achievable with NTU skeleton data + MediaPipe + scikit-learn.</a:t>
            </a:r>
            <a:endParaRPr lang="en-US" sz="1100" dirty="0"/>
          </a:p>
        </p:txBody>
      </p:sp>
      <p:sp>
        <p:nvSpPr>
          <p:cNvPr id="31" name="Shape 29"/>
          <p:cNvSpPr/>
          <p:nvPr/>
        </p:nvSpPr>
        <p:spPr>
          <a:xfrm>
            <a:off x="438912" y="6455664"/>
            <a:ext cx="11292840" cy="0"/>
          </a:xfrm>
          <a:prstGeom prst="line">
            <a:avLst/>
          </a:prstGeom>
          <a:noFill/>
          <a:ln w="6985">
            <a:solidFill>
              <a:srgbClr val="1E5276">
                <a:alpha val="78000"/>
              </a:srgbClr>
            </a:solidFill>
            <a:prstDash val="solid"/>
          </a:ln>
        </p:spPr>
      </p:sp>
      <p:sp>
        <p:nvSpPr>
          <p:cNvPr id="32" name="Text 30"/>
          <p:cNvSpPr/>
          <p:nvPr/>
        </p:nvSpPr>
        <p:spPr>
          <a:xfrm>
            <a:off x="475488" y="6556248"/>
            <a:ext cx="7040880" cy="118872"/>
          </a:xfrm>
          <a:prstGeom prst="rect">
            <a:avLst/>
          </a:prstGeom>
          <a:noFill/>
          <a:ln/>
        </p:spPr>
        <p:txBody>
          <a:bodyPr wrap="square" lIns="0" tIns="0" rIns="0" bIns="0" rtlCol="0" anchor="ctr">
            <a:noAutofit/>
          </a:bodyPr>
          <a:lstStyle/>
          <a:p>
            <a:pPr marL="0" indent="0">
              <a:buNone/>
            </a:pPr>
            <a:r>
              <a:rPr lang="en-US" sz="1050" dirty="0">
                <a:solidFill>
                  <a:srgbClr val="7893A9"/>
                </a:solidFill>
                <a:latin typeface="Times New Roman" pitchFamily="34" charset="0"/>
                <a:ea typeface="Times New Roman" pitchFamily="34" charset="-122"/>
                <a:cs typeface="Times New Roman" pitchFamily="34" charset="-120"/>
              </a:rPr>
              <a:t>References used: NTU RGB+D ROSE Lab/GitHub; Google AI Edge MediaPipe Pose Landmarker; team proposal PDFs.</a:t>
            </a:r>
            <a:endParaRPr lang="en-US" sz="1050" dirty="0"/>
          </a:p>
        </p:txBody>
      </p:sp>
      <p:sp>
        <p:nvSpPr>
          <p:cNvPr id="33" name="Text 31"/>
          <p:cNvSpPr/>
          <p:nvPr/>
        </p:nvSpPr>
        <p:spPr>
          <a:xfrm>
            <a:off x="8458200" y="6556248"/>
            <a:ext cx="3063240" cy="118872"/>
          </a:xfrm>
          <a:prstGeom prst="rect">
            <a:avLst/>
          </a:prstGeom>
          <a:noFill/>
          <a:ln/>
        </p:spPr>
        <p:txBody>
          <a:bodyPr wrap="square" lIns="0" tIns="0" rIns="0" bIns="0" rtlCol="0" anchor="ctr">
            <a:normAutofit fontScale="92500" lnSpcReduction="10000"/>
          </a:bodyPr>
          <a:lstStyle/>
          <a:p>
            <a:pPr marL="0" indent="0" algn="r">
              <a:buNone/>
            </a:pPr>
            <a:r>
              <a:rPr lang="en-US" sz="900" dirty="0">
                <a:solidFill>
                  <a:srgbClr val="7893A9"/>
                </a:solidFill>
                <a:latin typeface="Times New Roman" pitchFamily="34" charset="0"/>
                <a:ea typeface="Times New Roman" pitchFamily="34" charset="-122"/>
                <a:cs typeface="Times New Roman" pitchFamily="34" charset="-120"/>
              </a:rPr>
              <a:t>Emergency Behaviour Classification from Video using ML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1062</Words>
  <Application>Microsoft Office PowerPoint</Application>
  <PresentationFormat>Widescreen</PresentationFormat>
  <Paragraphs>123</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Times New Roman</vt:lpstr>
      <vt:lpstr>Office Theme</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Emergency Behaviour Classification from Video using Machine Learning</dc:title>
  <dc:subject>Information-heavy project proposal deck</dc:subject>
  <dc:creator>OpenAI</dc:creator>
  <cp:lastModifiedBy>Tarif Bin Mehedi</cp:lastModifiedBy>
  <cp:revision>17</cp:revision>
  <dcterms:created xsi:type="dcterms:W3CDTF">2026-07-04T17:01:05Z</dcterms:created>
  <dcterms:modified xsi:type="dcterms:W3CDTF">2026-07-16T04:55:32Z</dcterms:modified>
</cp:coreProperties>
</file>